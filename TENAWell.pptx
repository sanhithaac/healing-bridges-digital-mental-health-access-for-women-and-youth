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87" r:id="rId1"/>
    <p:sldMasterId id="2147483689" r:id="rId2"/>
    <p:sldMasterId id="2147483690" r:id="rId3"/>
    <p:sldMasterId id="2147483691" r:id="rId4"/>
  </p:sldMasterIdLst>
  <p:notesMasterIdLst>
    <p:notesMasterId r:id="rId36"/>
  </p:notesMasterIdLst>
  <p:sldIdLst>
    <p:sldId id="268" r:id="rId5"/>
    <p:sldId id="256" r:id="rId6"/>
    <p:sldId id="269" r:id="rId7"/>
    <p:sldId id="271" r:id="rId8"/>
    <p:sldId id="272" r:id="rId9"/>
    <p:sldId id="273" r:id="rId10"/>
    <p:sldId id="274" r:id="rId11"/>
    <p:sldId id="275" r:id="rId12"/>
    <p:sldId id="281" r:id="rId13"/>
    <p:sldId id="277" r:id="rId14"/>
    <p:sldId id="278" r:id="rId15"/>
    <p:sldId id="279" r:id="rId16"/>
    <p:sldId id="280" r:id="rId17"/>
    <p:sldId id="276" r:id="rId18"/>
    <p:sldId id="282" r:id="rId19"/>
    <p:sldId id="283" r:id="rId20"/>
    <p:sldId id="284" r:id="rId21"/>
    <p:sldId id="286" r:id="rId22"/>
    <p:sldId id="287" r:id="rId23"/>
    <p:sldId id="288" r:id="rId24"/>
    <p:sldId id="289" r:id="rId25"/>
    <p:sldId id="290" r:id="rId26"/>
    <p:sldId id="291" r:id="rId27"/>
    <p:sldId id="293" r:id="rId28"/>
    <p:sldId id="294" r:id="rId29"/>
    <p:sldId id="295" r:id="rId30"/>
    <p:sldId id="296" r:id="rId31"/>
    <p:sldId id="297" r:id="rId32"/>
    <p:sldId id="298" r:id="rId33"/>
    <p:sldId id="299" r:id="rId34"/>
    <p:sldId id="300" r:id="rId3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11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229F12B-DD2F-434A-8BDD-88915C9BCD54}">
  <a:tblStyle styleId="{B229F12B-DD2F-434A-8BDD-88915C9BCD54}"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1" d="100"/>
          <a:sy n="101" d="100"/>
        </p:scale>
        <p:origin x="120" y="8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44"/>
        <p:cNvGrpSpPr/>
        <p:nvPr/>
      </p:nvGrpSpPr>
      <p:grpSpPr>
        <a:xfrm>
          <a:off x="0" y="0"/>
          <a:ext cx="0" cy="0"/>
          <a:chOff x="0" y="0"/>
          <a:chExt cx="0" cy="0"/>
        </a:xfrm>
      </p:grpSpPr>
      <p:sp>
        <p:nvSpPr>
          <p:cNvPr id="745" name="Google Shape;745;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46" name="Google Shape;746;n"/>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47" name="Google Shape;747;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748" name="Google Shape;748;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49" name="Google Shape;749;n"/>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0" name="Google Shape;750;n"/>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025" name="Google Shape;1025;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60"/>
        <p:cNvGrpSpPr/>
        <p:nvPr/>
      </p:nvGrpSpPr>
      <p:grpSpPr>
        <a:xfrm>
          <a:off x="0" y="0"/>
          <a:ext cx="0" cy="0"/>
          <a:chOff x="0" y="0"/>
          <a:chExt cx="0" cy="0"/>
        </a:xfrm>
      </p:grpSpPr>
      <p:sp>
        <p:nvSpPr>
          <p:cNvPr id="761" name="Google Shape;761;p2"/>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2" name="Google Shape;762;p2"/>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763" name="Google Shape;763;p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4" name="Google Shape;764;p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5" name="Google Shape;765;p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66"/>
        <p:cNvGrpSpPr/>
        <p:nvPr/>
      </p:nvGrpSpPr>
      <p:grpSpPr>
        <a:xfrm>
          <a:off x="0" y="0"/>
          <a:ext cx="0" cy="0"/>
          <a:chOff x="0" y="0"/>
          <a:chExt cx="0" cy="0"/>
        </a:xfrm>
      </p:grpSpPr>
      <p:sp>
        <p:nvSpPr>
          <p:cNvPr id="767" name="Google Shape;767;p3"/>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8" name="Google Shape;768;p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69" name="Google Shape;769;p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0" name="Google Shape;770;p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1" name="Google Shape;771;p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72"/>
        <p:cNvGrpSpPr/>
        <p:nvPr/>
      </p:nvGrpSpPr>
      <p:grpSpPr>
        <a:xfrm>
          <a:off x="0" y="0"/>
          <a:ext cx="0" cy="0"/>
          <a:chOff x="0" y="0"/>
          <a:chExt cx="0" cy="0"/>
        </a:xfrm>
      </p:grpSpPr>
      <p:sp>
        <p:nvSpPr>
          <p:cNvPr id="773" name="Google Shape;773;p4"/>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74" name="Google Shape;774;p4"/>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775" name="Google Shape;775;p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6" name="Google Shape;776;p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7" name="Google Shape;777;p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78"/>
        <p:cNvGrpSpPr/>
        <p:nvPr/>
      </p:nvGrpSpPr>
      <p:grpSpPr>
        <a:xfrm>
          <a:off x="0" y="0"/>
          <a:ext cx="0" cy="0"/>
          <a:chOff x="0" y="0"/>
          <a:chExt cx="0" cy="0"/>
        </a:xfrm>
      </p:grpSpPr>
      <p:sp>
        <p:nvSpPr>
          <p:cNvPr id="779" name="Google Shape;779;p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0" name="Google Shape;780;p5"/>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81" name="Google Shape;781;p5"/>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82" name="Google Shape;782;p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3" name="Google Shape;783;p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4" name="Google Shape;784;p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85"/>
        <p:cNvGrpSpPr/>
        <p:nvPr/>
      </p:nvGrpSpPr>
      <p:grpSpPr>
        <a:xfrm>
          <a:off x="0" y="0"/>
          <a:ext cx="0" cy="0"/>
          <a:chOff x="0" y="0"/>
          <a:chExt cx="0" cy="0"/>
        </a:xfrm>
      </p:grpSpPr>
      <p:sp>
        <p:nvSpPr>
          <p:cNvPr id="786" name="Google Shape;786;p6"/>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7" name="Google Shape;787;p6"/>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788" name="Google Shape;788;p6"/>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89" name="Google Shape;789;p6"/>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790" name="Google Shape;790;p6"/>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91" name="Google Shape;791;p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2" name="Google Shape;792;p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3" name="Google Shape;793;p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94"/>
        <p:cNvGrpSpPr/>
        <p:nvPr/>
      </p:nvGrpSpPr>
      <p:grpSpPr>
        <a:xfrm>
          <a:off x="0" y="0"/>
          <a:ext cx="0" cy="0"/>
          <a:chOff x="0" y="0"/>
          <a:chExt cx="0" cy="0"/>
        </a:xfrm>
      </p:grpSpPr>
      <p:sp>
        <p:nvSpPr>
          <p:cNvPr id="795" name="Google Shape;795;p7"/>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6" name="Google Shape;796;p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7" name="Google Shape;797;p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8" name="Google Shape;798;p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9"/>
        <p:cNvGrpSpPr/>
        <p:nvPr/>
      </p:nvGrpSpPr>
      <p:grpSpPr>
        <a:xfrm>
          <a:off x="0" y="0"/>
          <a:ext cx="0" cy="0"/>
          <a:chOff x="0" y="0"/>
          <a:chExt cx="0" cy="0"/>
        </a:xfrm>
      </p:grpSpPr>
      <p:sp>
        <p:nvSpPr>
          <p:cNvPr id="800" name="Google Shape;800;p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1" name="Google Shape;801;p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2" name="Google Shape;802;p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03"/>
        <p:cNvGrpSpPr/>
        <p:nvPr/>
      </p:nvGrpSpPr>
      <p:grpSpPr>
        <a:xfrm>
          <a:off x="0" y="0"/>
          <a:ext cx="0" cy="0"/>
          <a:chOff x="0" y="0"/>
          <a:chExt cx="0" cy="0"/>
        </a:xfrm>
      </p:grpSpPr>
      <p:sp>
        <p:nvSpPr>
          <p:cNvPr id="804" name="Google Shape;804;p9"/>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05" name="Google Shape;805;p9"/>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endParaRPr/>
          </a:p>
        </p:txBody>
      </p:sp>
      <p:sp>
        <p:nvSpPr>
          <p:cNvPr id="806" name="Google Shape;806;p9"/>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807" name="Google Shape;807;p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8" name="Google Shape;808;p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9" name="Google Shape;809;p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10"/>
        <p:cNvGrpSpPr/>
        <p:nvPr/>
      </p:nvGrpSpPr>
      <p:grpSpPr>
        <a:xfrm>
          <a:off x="0" y="0"/>
          <a:ext cx="0" cy="0"/>
          <a:chOff x="0" y="0"/>
          <a:chExt cx="0" cy="0"/>
        </a:xfrm>
      </p:grpSpPr>
      <p:sp>
        <p:nvSpPr>
          <p:cNvPr id="811" name="Google Shape;811;p1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12" name="Google Shape;812;p10"/>
          <p:cNvSpPr>
            <a:spLocks noGrp="1"/>
          </p:cNvSpPr>
          <p:nvPr>
            <p:ph type="pic" idx="2"/>
          </p:nvPr>
        </p:nvSpPr>
        <p:spPr>
          <a:xfrm>
            <a:off x="5183188" y="987427"/>
            <a:ext cx="6172200" cy="4873500"/>
          </a:xfrm>
          <a:prstGeom prst="rect">
            <a:avLst/>
          </a:prstGeom>
          <a:noFill/>
          <a:ln>
            <a:noFill/>
          </a:ln>
        </p:spPr>
        <p:txBody>
          <a:bodyPr/>
          <a:lstStyle/>
          <a:p>
            <a:endParaRPr lang="en-IN"/>
          </a:p>
        </p:txBody>
      </p:sp>
      <p:sp>
        <p:nvSpPr>
          <p:cNvPr id="813" name="Google Shape;813;p10"/>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814" name="Google Shape;814;p1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5" name="Google Shape;815;p1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6" name="Google Shape;816;p1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7"/>
        <p:cNvGrpSpPr/>
        <p:nvPr/>
      </p:nvGrpSpPr>
      <p:grpSpPr>
        <a:xfrm>
          <a:off x="0" y="0"/>
          <a:ext cx="0" cy="0"/>
          <a:chOff x="0" y="0"/>
          <a:chExt cx="0" cy="0"/>
        </a:xfrm>
      </p:grpSpPr>
      <p:sp>
        <p:nvSpPr>
          <p:cNvPr id="818" name="Google Shape;818;p1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19" name="Google Shape;819;p11"/>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20" name="Google Shape;820;p1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1" name="Google Shape;821;p1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2" name="Google Shape;822;p1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3"/>
        <p:cNvGrpSpPr/>
        <p:nvPr/>
      </p:nvGrpSpPr>
      <p:grpSpPr>
        <a:xfrm>
          <a:off x="0" y="0"/>
          <a:ext cx="0" cy="0"/>
          <a:chOff x="0" y="0"/>
          <a:chExt cx="0" cy="0"/>
        </a:xfrm>
      </p:grpSpPr>
      <p:sp>
        <p:nvSpPr>
          <p:cNvPr id="824" name="Google Shape;824;p12"/>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5" name="Google Shape;825;p12"/>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26" name="Google Shape;826;p1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7" name="Google Shape;827;p1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8" name="Google Shape;828;p1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829"/>
        <p:cNvGrpSpPr/>
        <p:nvPr/>
      </p:nvGrpSpPr>
      <p:grpSpPr>
        <a:xfrm>
          <a:off x="0" y="0"/>
          <a:ext cx="0" cy="0"/>
          <a:chOff x="0" y="0"/>
          <a:chExt cx="0" cy="0"/>
        </a:xfrm>
      </p:grpSpPr>
      <p:sp>
        <p:nvSpPr>
          <p:cNvPr id="830" name="Google Shape;830;p13"/>
          <p:cNvSpPr txBox="1">
            <a:spLocks noGrp="1"/>
          </p:cNvSpPr>
          <p:nvPr>
            <p:ph type="title"/>
          </p:nvPr>
        </p:nvSpPr>
        <p:spPr>
          <a:xfrm>
            <a:off x="838091" y="365084"/>
            <a:ext cx="10515900" cy="831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3599"/>
              <a:buFont typeface="Poppins"/>
              <a:buNone/>
              <a:defRPr sz="3599"/>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831"/>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919"/>
        <p:cNvGrpSpPr/>
        <p:nvPr/>
      </p:nvGrpSpPr>
      <p:grpSpPr>
        <a:xfrm>
          <a:off x="0" y="0"/>
          <a:ext cx="0" cy="0"/>
          <a:chOff x="0" y="0"/>
          <a:chExt cx="0" cy="0"/>
        </a:xfrm>
      </p:grpSpPr>
      <p:sp>
        <p:nvSpPr>
          <p:cNvPr id="920" name="Google Shape;920;p28"/>
          <p:cNvSpPr txBox="1">
            <a:spLocks noGrp="1"/>
          </p:cNvSpPr>
          <p:nvPr>
            <p:ph type="ctrTitle"/>
          </p:nvPr>
        </p:nvSpPr>
        <p:spPr>
          <a:xfrm>
            <a:off x="3482340" y="3911285"/>
            <a:ext cx="9144000" cy="12780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lt1"/>
              </a:buClr>
              <a:buSzPts val="6000"/>
              <a:buFont typeface="Garamond"/>
              <a:buNone/>
              <a:defRPr sz="6000">
                <a:solidFill>
                  <a:schemeClr val="lt1"/>
                </a:solidFill>
                <a:latin typeface="Garamond"/>
                <a:ea typeface="Garamond"/>
                <a:cs typeface="Garamond"/>
                <a:sym typeface="Garamo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933"/>
        <p:cNvGrpSpPr/>
        <p:nvPr/>
      </p:nvGrpSpPr>
      <p:grpSpPr>
        <a:xfrm>
          <a:off x="0" y="0"/>
          <a:ext cx="0" cy="0"/>
          <a:chOff x="0" y="0"/>
          <a:chExt cx="0" cy="0"/>
        </a:xfrm>
      </p:grpSpPr>
      <p:sp>
        <p:nvSpPr>
          <p:cNvPr id="934" name="Google Shape;934;p30"/>
          <p:cNvSpPr txBox="1">
            <a:spLocks noGrp="1"/>
          </p:cNvSpPr>
          <p:nvPr>
            <p:ph type="ctrTitle"/>
          </p:nvPr>
        </p:nvSpPr>
        <p:spPr>
          <a:xfrm>
            <a:off x="3482340" y="3911285"/>
            <a:ext cx="9144000" cy="12780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lt1"/>
              </a:buClr>
              <a:buSzPts val="6000"/>
              <a:buFont typeface="Garamond"/>
              <a:buNone/>
              <a:defRPr sz="6000">
                <a:solidFill>
                  <a:schemeClr val="lt1"/>
                </a:solidFill>
                <a:latin typeface="Garamond"/>
                <a:ea typeface="Garamond"/>
                <a:cs typeface="Garamond"/>
                <a:sym typeface="Garamo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Slide" type="title">
  <p:cSld name="TITLE">
    <p:spTree>
      <p:nvGrpSpPr>
        <p:cNvPr id="1" name="Shape 935"/>
        <p:cNvGrpSpPr/>
        <p:nvPr/>
      </p:nvGrpSpPr>
      <p:grpSpPr>
        <a:xfrm>
          <a:off x="0" y="0"/>
          <a:ext cx="0" cy="0"/>
          <a:chOff x="0" y="0"/>
          <a:chExt cx="0" cy="0"/>
        </a:xfrm>
      </p:grpSpPr>
      <p:sp>
        <p:nvSpPr>
          <p:cNvPr id="936" name="Google Shape;936;p31"/>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37" name="Google Shape;937;p31"/>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938" name="Google Shape;938;p3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39" name="Google Shape;939;p3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40" name="Google Shape;940;p3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50"/>
        <p:cNvGrpSpPr/>
        <p:nvPr/>
      </p:nvGrpSpPr>
      <p:grpSpPr>
        <a:xfrm>
          <a:off x="0" y="0"/>
          <a:ext cx="0" cy="0"/>
          <a:chOff x="0" y="0"/>
          <a:chExt cx="0" cy="0"/>
        </a:xfrm>
      </p:grpSpPr>
      <p:sp>
        <p:nvSpPr>
          <p:cNvPr id="951" name="Google Shape;951;p33"/>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52" name="Google Shape;952;p33"/>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953" name="Google Shape;953;p3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54" name="Google Shape;954;p3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55" name="Google Shape;955;p3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56"/>
        <p:cNvGrpSpPr/>
        <p:nvPr/>
      </p:nvGrpSpPr>
      <p:grpSpPr>
        <a:xfrm>
          <a:off x="0" y="0"/>
          <a:ext cx="0" cy="0"/>
          <a:chOff x="0" y="0"/>
          <a:chExt cx="0" cy="0"/>
        </a:xfrm>
      </p:grpSpPr>
      <p:sp>
        <p:nvSpPr>
          <p:cNvPr id="957" name="Google Shape;957;p34"/>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58" name="Google Shape;958;p34"/>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59" name="Google Shape;959;p3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0" name="Google Shape;960;p3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1" name="Google Shape;961;p3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62"/>
        <p:cNvGrpSpPr/>
        <p:nvPr/>
      </p:nvGrpSpPr>
      <p:grpSpPr>
        <a:xfrm>
          <a:off x="0" y="0"/>
          <a:ext cx="0" cy="0"/>
          <a:chOff x="0" y="0"/>
          <a:chExt cx="0" cy="0"/>
        </a:xfrm>
      </p:grpSpPr>
      <p:sp>
        <p:nvSpPr>
          <p:cNvPr id="963" name="Google Shape;963;p35"/>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64" name="Google Shape;964;p35"/>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965" name="Google Shape;965;p3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6" name="Google Shape;966;p3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7" name="Google Shape;967;p3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68"/>
        <p:cNvGrpSpPr/>
        <p:nvPr/>
      </p:nvGrpSpPr>
      <p:grpSpPr>
        <a:xfrm>
          <a:off x="0" y="0"/>
          <a:ext cx="0" cy="0"/>
          <a:chOff x="0" y="0"/>
          <a:chExt cx="0" cy="0"/>
        </a:xfrm>
      </p:grpSpPr>
      <p:sp>
        <p:nvSpPr>
          <p:cNvPr id="969" name="Google Shape;969;p36"/>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70" name="Google Shape;970;p36"/>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71" name="Google Shape;971;p36"/>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72" name="Google Shape;972;p3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73" name="Google Shape;973;p3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74" name="Google Shape;974;p3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75"/>
        <p:cNvGrpSpPr/>
        <p:nvPr/>
      </p:nvGrpSpPr>
      <p:grpSpPr>
        <a:xfrm>
          <a:off x="0" y="0"/>
          <a:ext cx="0" cy="0"/>
          <a:chOff x="0" y="0"/>
          <a:chExt cx="0" cy="0"/>
        </a:xfrm>
      </p:grpSpPr>
      <p:sp>
        <p:nvSpPr>
          <p:cNvPr id="976" name="Google Shape;976;p37"/>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77" name="Google Shape;977;p37"/>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978" name="Google Shape;978;p37"/>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79" name="Google Shape;979;p37"/>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980" name="Google Shape;980;p37"/>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81" name="Google Shape;981;p3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2" name="Google Shape;982;p3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3" name="Google Shape;983;p3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84"/>
        <p:cNvGrpSpPr/>
        <p:nvPr/>
      </p:nvGrpSpPr>
      <p:grpSpPr>
        <a:xfrm>
          <a:off x="0" y="0"/>
          <a:ext cx="0" cy="0"/>
          <a:chOff x="0" y="0"/>
          <a:chExt cx="0" cy="0"/>
        </a:xfrm>
      </p:grpSpPr>
      <p:sp>
        <p:nvSpPr>
          <p:cNvPr id="985" name="Google Shape;985;p38"/>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86" name="Google Shape;986;p3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7" name="Google Shape;987;p3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8" name="Google Shape;988;p3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89"/>
        <p:cNvGrpSpPr/>
        <p:nvPr/>
      </p:nvGrpSpPr>
      <p:grpSpPr>
        <a:xfrm>
          <a:off x="0" y="0"/>
          <a:ext cx="0" cy="0"/>
          <a:chOff x="0" y="0"/>
          <a:chExt cx="0" cy="0"/>
        </a:xfrm>
      </p:grpSpPr>
      <p:sp>
        <p:nvSpPr>
          <p:cNvPr id="990" name="Google Shape;990;p3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1" name="Google Shape;991;p3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2" name="Google Shape;992;p3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3"/>
        <p:cNvGrpSpPr/>
        <p:nvPr/>
      </p:nvGrpSpPr>
      <p:grpSpPr>
        <a:xfrm>
          <a:off x="0" y="0"/>
          <a:ext cx="0" cy="0"/>
          <a:chOff x="0" y="0"/>
          <a:chExt cx="0" cy="0"/>
        </a:xfrm>
      </p:grpSpPr>
      <p:sp>
        <p:nvSpPr>
          <p:cNvPr id="994" name="Google Shape;994;p4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95" name="Google Shape;995;p40"/>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endParaRPr/>
          </a:p>
        </p:txBody>
      </p:sp>
      <p:sp>
        <p:nvSpPr>
          <p:cNvPr id="996" name="Google Shape;996;p40"/>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997" name="Google Shape;997;p4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8" name="Google Shape;998;p4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9" name="Google Shape;999;p4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00"/>
        <p:cNvGrpSpPr/>
        <p:nvPr/>
      </p:nvGrpSpPr>
      <p:grpSpPr>
        <a:xfrm>
          <a:off x="0" y="0"/>
          <a:ext cx="0" cy="0"/>
          <a:chOff x="0" y="0"/>
          <a:chExt cx="0" cy="0"/>
        </a:xfrm>
      </p:grpSpPr>
      <p:sp>
        <p:nvSpPr>
          <p:cNvPr id="1001" name="Google Shape;1001;p41"/>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02" name="Google Shape;1002;p41"/>
          <p:cNvSpPr>
            <a:spLocks noGrp="1"/>
          </p:cNvSpPr>
          <p:nvPr>
            <p:ph type="pic" idx="2"/>
          </p:nvPr>
        </p:nvSpPr>
        <p:spPr>
          <a:xfrm>
            <a:off x="5183188" y="987427"/>
            <a:ext cx="6172200" cy="4873500"/>
          </a:xfrm>
          <a:prstGeom prst="rect">
            <a:avLst/>
          </a:prstGeom>
          <a:noFill/>
          <a:ln>
            <a:noFill/>
          </a:ln>
        </p:spPr>
        <p:txBody>
          <a:bodyPr/>
          <a:lstStyle/>
          <a:p>
            <a:endParaRPr lang="en-IN"/>
          </a:p>
        </p:txBody>
      </p:sp>
      <p:sp>
        <p:nvSpPr>
          <p:cNvPr id="1003" name="Google Shape;1003;p41"/>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1004" name="Google Shape;1004;p4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05" name="Google Shape;1005;p4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06" name="Google Shape;1006;p4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07"/>
        <p:cNvGrpSpPr/>
        <p:nvPr/>
      </p:nvGrpSpPr>
      <p:grpSpPr>
        <a:xfrm>
          <a:off x="0" y="0"/>
          <a:ext cx="0" cy="0"/>
          <a:chOff x="0" y="0"/>
          <a:chExt cx="0" cy="0"/>
        </a:xfrm>
      </p:grpSpPr>
      <p:sp>
        <p:nvSpPr>
          <p:cNvPr id="1008" name="Google Shape;1008;p42"/>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09" name="Google Shape;1009;p42"/>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010" name="Google Shape;1010;p4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1" name="Google Shape;1011;p4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2" name="Google Shape;1012;p4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13"/>
        <p:cNvGrpSpPr/>
        <p:nvPr/>
      </p:nvGrpSpPr>
      <p:grpSpPr>
        <a:xfrm>
          <a:off x="0" y="0"/>
          <a:ext cx="0" cy="0"/>
          <a:chOff x="0" y="0"/>
          <a:chExt cx="0" cy="0"/>
        </a:xfrm>
      </p:grpSpPr>
      <p:sp>
        <p:nvSpPr>
          <p:cNvPr id="1014" name="Google Shape;1014;p43"/>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15" name="Google Shape;1015;p43"/>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016" name="Google Shape;1016;p4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7" name="Google Shape;1017;p4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8" name="Google Shape;1018;p4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19"/>
        <p:cNvGrpSpPr/>
        <p:nvPr/>
      </p:nvGrpSpPr>
      <p:grpSpPr>
        <a:xfrm>
          <a:off x="0" y="0"/>
          <a:ext cx="0" cy="0"/>
          <a:chOff x="0" y="0"/>
          <a:chExt cx="0" cy="0"/>
        </a:xfrm>
      </p:grpSpPr>
      <p:sp>
        <p:nvSpPr>
          <p:cNvPr id="1020" name="Google Shape;1020;p44"/>
          <p:cNvSpPr txBox="1">
            <a:spLocks noGrp="1"/>
          </p:cNvSpPr>
          <p:nvPr>
            <p:ph type="title"/>
          </p:nvPr>
        </p:nvSpPr>
        <p:spPr>
          <a:xfrm>
            <a:off x="415600" y="593367"/>
            <a:ext cx="11360700" cy="763500"/>
          </a:xfrm>
          <a:prstGeom prst="rect">
            <a:avLst/>
          </a:prstGeom>
          <a:noFill/>
          <a:ln>
            <a:noFill/>
          </a:ln>
        </p:spPr>
        <p:txBody>
          <a:bodyPr spcFirstLastPara="1" wrap="square" lIns="90000" tIns="46800" rIns="90000" bIns="46800" anchor="b" anchorCtr="0">
            <a:noAutofit/>
          </a:bodyPr>
          <a:lstStyle>
            <a:lvl1pPr lvl="0" algn="l" rtl="0">
              <a:lnSpc>
                <a:spcPct val="90000"/>
              </a:lnSpc>
              <a:spcBef>
                <a:spcPts val="0"/>
              </a:spcBef>
              <a:spcAft>
                <a:spcPts val="0"/>
              </a:spcAft>
              <a:buClr>
                <a:schemeClr val="dk1"/>
              </a:buClr>
              <a:buSzPts val="1400"/>
              <a:buFont typeface="Poppins"/>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21" name="Google Shape;1021;p44"/>
          <p:cNvSpPr txBox="1">
            <a:spLocks noGrp="1"/>
          </p:cNvSpPr>
          <p:nvPr>
            <p:ph type="body" idx="1"/>
          </p:nvPr>
        </p:nvSpPr>
        <p:spPr>
          <a:xfrm>
            <a:off x="415600" y="1536633"/>
            <a:ext cx="11360700" cy="4555200"/>
          </a:xfrm>
          <a:prstGeom prst="rect">
            <a:avLst/>
          </a:prstGeom>
          <a:noFill/>
          <a:ln>
            <a:noFill/>
          </a:ln>
        </p:spPr>
        <p:txBody>
          <a:bodyPr spcFirstLastPara="1" wrap="square" lIns="90000" tIns="46800" rIns="90000" bIns="46800" anchor="t" anchorCtr="0">
            <a:noAutofit/>
          </a:bodyPr>
          <a:lstStyle>
            <a:lvl1pPr marL="457200" lvl="0" indent="-337883" algn="l" rtl="0">
              <a:lnSpc>
                <a:spcPct val="90000"/>
              </a:lnSpc>
              <a:spcBef>
                <a:spcPts val="675"/>
              </a:spcBef>
              <a:spcAft>
                <a:spcPts val="0"/>
              </a:spcAft>
              <a:buClr>
                <a:schemeClr val="dk1"/>
              </a:buClr>
              <a:buSzPts val="1721"/>
              <a:buChar char="⚫"/>
              <a:defRPr/>
            </a:lvl1pPr>
            <a:lvl2pPr marL="914400" lvl="1" indent="-301942" algn="l" rtl="0">
              <a:lnSpc>
                <a:spcPct val="90000"/>
              </a:lnSpc>
              <a:spcBef>
                <a:spcPts val="551"/>
              </a:spcBef>
              <a:spcAft>
                <a:spcPts val="0"/>
              </a:spcAft>
              <a:buClr>
                <a:schemeClr val="dk1"/>
              </a:buClr>
              <a:buSzPts val="1155"/>
              <a:buChar char="⚪"/>
              <a:defRPr/>
            </a:lvl2pPr>
            <a:lvl3pPr marL="1371600" lvl="2" indent="-300037" algn="l" rtl="0">
              <a:lnSpc>
                <a:spcPct val="90000"/>
              </a:lnSpc>
              <a:spcBef>
                <a:spcPts val="500"/>
              </a:spcBef>
              <a:spcAft>
                <a:spcPts val="0"/>
              </a:spcAft>
              <a:buClr>
                <a:schemeClr val="dk1"/>
              </a:buClr>
              <a:buSzPts val="1125"/>
              <a:buChar char="⯍"/>
              <a:defRPr/>
            </a:lvl3pPr>
            <a:lvl4pPr marL="1828800" lvl="3" indent="-295275" algn="l" rtl="0">
              <a:lnSpc>
                <a:spcPct val="90000"/>
              </a:lnSpc>
              <a:spcBef>
                <a:spcPts val="500"/>
              </a:spcBef>
              <a:spcAft>
                <a:spcPts val="0"/>
              </a:spcAft>
              <a:buClr>
                <a:schemeClr val="dk1"/>
              </a:buClr>
              <a:buSzPts val="1050"/>
              <a:buChar char="?"/>
              <a:defRPr/>
            </a:lvl4pPr>
            <a:lvl5pPr marL="2286000" lvl="4" indent="-323850" algn="l" rtl="0">
              <a:lnSpc>
                <a:spcPct val="90000"/>
              </a:lnSpc>
              <a:spcBef>
                <a:spcPts val="500"/>
              </a:spcBef>
              <a:spcAft>
                <a:spcPts val="0"/>
              </a:spcAft>
              <a:buClr>
                <a:schemeClr val="dk1"/>
              </a:buClr>
              <a:buSzPts val="1500"/>
              <a:buChar char="•"/>
              <a:defRPr/>
            </a:lvl5pPr>
            <a:lvl6pPr marL="2743200" lvl="5" indent="-323850" algn="l" rtl="0">
              <a:lnSpc>
                <a:spcPct val="90000"/>
              </a:lnSpc>
              <a:spcBef>
                <a:spcPts val="500"/>
              </a:spcBef>
              <a:spcAft>
                <a:spcPts val="0"/>
              </a:spcAft>
              <a:buClr>
                <a:schemeClr val="dk1"/>
              </a:buClr>
              <a:buSzPts val="1500"/>
              <a:buChar char="•"/>
              <a:defRPr/>
            </a:lvl6pPr>
            <a:lvl7pPr marL="3200400" lvl="6" indent="-323850" algn="l" rtl="0">
              <a:lnSpc>
                <a:spcPct val="90000"/>
              </a:lnSpc>
              <a:spcBef>
                <a:spcPts val="500"/>
              </a:spcBef>
              <a:spcAft>
                <a:spcPts val="0"/>
              </a:spcAft>
              <a:buClr>
                <a:schemeClr val="dk1"/>
              </a:buClr>
              <a:buSzPts val="1500"/>
              <a:buChar char="•"/>
              <a:defRPr/>
            </a:lvl7pPr>
            <a:lvl8pPr marL="3657600" lvl="7" indent="-323850" algn="l" rtl="0">
              <a:lnSpc>
                <a:spcPct val="90000"/>
              </a:lnSpc>
              <a:spcBef>
                <a:spcPts val="500"/>
              </a:spcBef>
              <a:spcAft>
                <a:spcPts val="0"/>
              </a:spcAft>
              <a:buClr>
                <a:schemeClr val="dk1"/>
              </a:buClr>
              <a:buSzPts val="1500"/>
              <a:buChar char="•"/>
              <a:defRPr/>
            </a:lvl8pPr>
            <a:lvl9pPr marL="4114800" lvl="8" indent="-323850" algn="l" rtl="0">
              <a:lnSpc>
                <a:spcPct val="90000"/>
              </a:lnSpc>
              <a:spcBef>
                <a:spcPts val="500"/>
              </a:spcBef>
              <a:spcAft>
                <a:spcPts val="0"/>
              </a:spcAft>
              <a:buClr>
                <a:schemeClr val="dk1"/>
              </a:buClr>
              <a:buSzPts val="1500"/>
              <a:buChar char="•"/>
              <a:defRPr/>
            </a:lvl9pPr>
          </a:lstStyle>
          <a:p>
            <a:endParaRPr/>
          </a:p>
        </p:txBody>
      </p:sp>
      <p:sp>
        <p:nvSpPr>
          <p:cNvPr id="1022" name="Google Shape;1022;p44"/>
          <p:cNvSpPr txBox="1">
            <a:spLocks noGrp="1"/>
          </p:cNvSpPr>
          <p:nvPr>
            <p:ph type="sldNum" idx="12"/>
          </p:nvPr>
        </p:nvSpPr>
        <p:spPr>
          <a:xfrm>
            <a:off x="11296611" y="6217623"/>
            <a:ext cx="731700" cy="524700"/>
          </a:xfrm>
          <a:prstGeom prst="rect">
            <a:avLst/>
          </a:prstGeom>
          <a:noFill/>
          <a:ln>
            <a:noFill/>
          </a:ln>
        </p:spPr>
        <p:txBody>
          <a:bodyPr spcFirstLastPara="1" wrap="square" lIns="91425" tIns="91425" rIns="91425" bIns="91425" anchor="ctr" anchorCtr="0">
            <a:noAutofit/>
          </a:bodyPr>
          <a:lstStyle>
            <a:lvl1pPr marL="0" marR="0" lvl="0"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theme" Target="../theme/theme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51"/>
        <p:cNvGrpSpPr/>
        <p:nvPr/>
      </p:nvGrpSpPr>
      <p:grpSpPr>
        <a:xfrm>
          <a:off x="0" y="0"/>
          <a:ext cx="0" cy="0"/>
          <a:chOff x="0" y="0"/>
          <a:chExt cx="0" cy="0"/>
        </a:xfrm>
      </p:grpSpPr>
      <p:sp>
        <p:nvSpPr>
          <p:cNvPr id="752" name="Google Shape;752;p1"/>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53" name="Google Shape;753;p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54" name="Google Shape;754;p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5" name="Google Shape;755;p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6" name="Google Shape;756;p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7" name="Google Shape;757;p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758" name="Google Shape;758;p1"/>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759" name="Google Shape;759;p1"/>
          <p:cNvPicPr preferRelativeResize="0"/>
          <p:nvPr/>
        </p:nvPicPr>
        <p:blipFill rotWithShape="1">
          <a:blip r:embed="rId15">
            <a:alphaModFix/>
          </a:blip>
          <a:srcRect/>
          <a:stretch/>
        </p:blipFill>
        <p:spPr>
          <a:xfrm>
            <a:off x="9890762" y="6165912"/>
            <a:ext cx="1935479" cy="61806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10"/>
        <p:cNvGrpSpPr/>
        <p:nvPr/>
      </p:nvGrpSpPr>
      <p:grpSpPr>
        <a:xfrm>
          <a:off x="0" y="0"/>
          <a:ext cx="0" cy="0"/>
          <a:chOff x="0" y="0"/>
          <a:chExt cx="0" cy="0"/>
        </a:xfrm>
      </p:grpSpPr>
      <p:sp>
        <p:nvSpPr>
          <p:cNvPr id="911" name="Google Shape;911;p27"/>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12" name="Google Shape;912;p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13" name="Google Shape;913;p2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14" name="Google Shape;914;p2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15" name="Google Shape;915;p2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16" name="Google Shape;916;p27"/>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17" name="Google Shape;917;p27"/>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18" name="Google Shape;918;p27"/>
          <p:cNvPicPr preferRelativeResize="0"/>
          <p:nvPr/>
        </p:nvPicPr>
        <p:blipFill rotWithShape="1">
          <a:blip r:embed="rId3">
            <a:alphaModFix/>
          </a:blip>
          <a:srcRect/>
          <a:stretch/>
        </p:blipFill>
        <p:spPr>
          <a:xfrm>
            <a:off x="3451862" y="2544174"/>
            <a:ext cx="4801940" cy="153343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21"/>
        <p:cNvGrpSpPr/>
        <p:nvPr/>
      </p:nvGrpSpPr>
      <p:grpSpPr>
        <a:xfrm>
          <a:off x="0" y="0"/>
          <a:ext cx="0" cy="0"/>
          <a:chOff x="0" y="0"/>
          <a:chExt cx="0" cy="0"/>
        </a:xfrm>
      </p:grpSpPr>
      <p:sp>
        <p:nvSpPr>
          <p:cNvPr id="922" name="Google Shape;922;p29"/>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23" name="Google Shape;923;p2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24" name="Google Shape;924;p2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25" name="Google Shape;925;p2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26" name="Google Shape;926;p2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27" name="Google Shape;927;p29"/>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28" name="Google Shape;928;p29"/>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29" name="Google Shape;929;p29"/>
          <p:cNvPicPr preferRelativeResize="0"/>
          <p:nvPr/>
        </p:nvPicPr>
        <p:blipFill rotWithShape="1">
          <a:blip r:embed="rId4">
            <a:alphaModFix/>
          </a:blip>
          <a:srcRect/>
          <a:stretch/>
        </p:blipFill>
        <p:spPr>
          <a:xfrm>
            <a:off x="3451862" y="2544174"/>
            <a:ext cx="4801940" cy="1533432"/>
          </a:xfrm>
          <a:prstGeom prst="rect">
            <a:avLst/>
          </a:prstGeom>
          <a:noFill/>
          <a:ln>
            <a:noFill/>
          </a:ln>
        </p:spPr>
      </p:pic>
      <p:sp>
        <p:nvSpPr>
          <p:cNvPr id="930" name="Google Shape;930;p29"/>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31" name="Google Shape;931;p29"/>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32" name="Google Shape;932;p29"/>
          <p:cNvPicPr preferRelativeResize="0"/>
          <p:nvPr/>
        </p:nvPicPr>
        <p:blipFill rotWithShape="1">
          <a:blip r:embed="rId4">
            <a:alphaModFix/>
          </a:blip>
          <a:srcRect/>
          <a:stretch/>
        </p:blipFill>
        <p:spPr>
          <a:xfrm>
            <a:off x="3451862" y="2544174"/>
            <a:ext cx="4801940" cy="153343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3" r:id="rId1"/>
    <p:sldLayoutId id="214748367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1"/>
        <p:cNvGrpSpPr/>
        <p:nvPr/>
      </p:nvGrpSpPr>
      <p:grpSpPr>
        <a:xfrm>
          <a:off x="0" y="0"/>
          <a:ext cx="0" cy="0"/>
          <a:chOff x="0" y="0"/>
          <a:chExt cx="0" cy="0"/>
        </a:xfrm>
      </p:grpSpPr>
      <p:sp>
        <p:nvSpPr>
          <p:cNvPr id="942" name="Google Shape;942;p32"/>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43" name="Google Shape;943;p32"/>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44" name="Google Shape;944;p3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45" name="Google Shape;945;p3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46" name="Google Shape;946;p3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47" name="Google Shape;947;p3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48" name="Google Shape;948;p32"/>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949" name="Google Shape;949;p32"/>
          <p:cNvPicPr preferRelativeResize="0"/>
          <p:nvPr/>
        </p:nvPicPr>
        <p:blipFill rotWithShape="1">
          <a:blip r:embed="rId14">
            <a:alphaModFix/>
          </a:blip>
          <a:srcRect/>
          <a:stretch/>
        </p:blipFill>
        <p:spPr>
          <a:xfrm>
            <a:off x="9890762" y="6165912"/>
            <a:ext cx="1935479" cy="61806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sanhithaac/Healing-Bridges-Digital-Mental-Health-Access-for-Women-and-Youth"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kaggle.com/datasets/umar1103/suicide-sentiment-analysis-dataset" TargetMode="External"/><Relationship Id="rId2" Type="http://schemas.openxmlformats.org/officeDocument/2006/relationships/hyperlink" Target="https://www.kaggle.com/datasets/suchintikasarkar/sentiment-analysis-for-mental-health/data" TargetMode="External"/><Relationship Id="rId1" Type="http://schemas.openxmlformats.org/officeDocument/2006/relationships/slideLayout" Target="../slideLayouts/slideLayout2.xml"/><Relationship Id="rId4" Type="http://schemas.openxmlformats.org/officeDocument/2006/relationships/hyperlink" Target="https://huggingface.co/datasets/Amod/mental_health_counseling_conversation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BE104-8C42-3859-C5D2-5671EB9A183D}"/>
              </a:ext>
            </a:extLst>
          </p:cNvPr>
          <p:cNvSpPr>
            <a:spLocks noGrp="1"/>
          </p:cNvSpPr>
          <p:nvPr>
            <p:ph type="title"/>
          </p:nvPr>
        </p:nvSpPr>
        <p:spPr>
          <a:xfrm>
            <a:off x="716280" y="537846"/>
            <a:ext cx="10515600" cy="5100953"/>
          </a:xfrm>
        </p:spPr>
        <p:txBody>
          <a:bodyPr>
            <a:normAutofit/>
          </a:bodyPr>
          <a:lstStyle/>
          <a:p>
            <a:pPr algn="ctr"/>
            <a:r>
              <a:rPr lang="en-US" b="1" dirty="0">
                <a:solidFill>
                  <a:srgbClr val="B6114D"/>
                </a:solidFill>
                <a:latin typeface="Times New Roman" panose="02020603050405020304" pitchFamily="18" charset="0"/>
                <a:cs typeface="Times New Roman" panose="02020603050405020304" pitchFamily="18" charset="0"/>
              </a:rPr>
              <a:t>23CSE461</a:t>
            </a:r>
            <a:br>
              <a:rPr lang="en-US" b="1" dirty="0">
                <a:solidFill>
                  <a:srgbClr val="B6114D"/>
                </a:solidFill>
                <a:latin typeface="Times New Roman" panose="02020603050405020304" pitchFamily="18" charset="0"/>
                <a:cs typeface="Times New Roman" panose="02020603050405020304" pitchFamily="18" charset="0"/>
              </a:rPr>
            </a:br>
            <a:r>
              <a:rPr lang="en-US" b="1" dirty="0">
                <a:solidFill>
                  <a:srgbClr val="B6114D"/>
                </a:solidFill>
                <a:latin typeface="Times New Roman" panose="02020603050405020304" pitchFamily="18" charset="0"/>
                <a:cs typeface="Times New Roman" panose="02020603050405020304" pitchFamily="18" charset="0"/>
              </a:rPr>
              <a:t> </a:t>
            </a:r>
            <a:br>
              <a:rPr lang="en-US" b="1" dirty="0">
                <a:solidFill>
                  <a:srgbClr val="B6114D"/>
                </a:solidFill>
                <a:latin typeface="Times New Roman" panose="02020603050405020304" pitchFamily="18" charset="0"/>
                <a:cs typeface="Times New Roman" panose="02020603050405020304" pitchFamily="18" charset="0"/>
              </a:rPr>
            </a:br>
            <a:r>
              <a:rPr lang="en-US" b="1" dirty="0">
                <a:solidFill>
                  <a:srgbClr val="B6114D"/>
                </a:solidFill>
                <a:latin typeface="Times New Roman" panose="02020603050405020304" pitchFamily="18" charset="0"/>
                <a:cs typeface="Times New Roman" panose="02020603050405020304" pitchFamily="18" charset="0"/>
              </a:rPr>
              <a:t>Healing Bridges:  Digital Mental Health Access for Women &amp; Youth</a:t>
            </a:r>
            <a:br>
              <a:rPr lang="en-US" b="1" dirty="0">
                <a:solidFill>
                  <a:srgbClr val="B6114D"/>
                </a:solidFill>
                <a:latin typeface="Times New Roman" panose="02020603050405020304" pitchFamily="18" charset="0"/>
                <a:cs typeface="Times New Roman" panose="02020603050405020304" pitchFamily="18" charset="0"/>
              </a:rPr>
            </a:br>
            <a:br>
              <a:rPr lang="en-US" b="1" dirty="0">
                <a:solidFill>
                  <a:srgbClr val="B6114D"/>
                </a:solidFill>
                <a:latin typeface="Times New Roman" panose="02020603050405020304" pitchFamily="18" charset="0"/>
                <a:cs typeface="Times New Roman" panose="02020603050405020304" pitchFamily="18" charset="0"/>
              </a:rPr>
            </a:br>
            <a:r>
              <a:rPr lang="en-US" sz="2800" b="1" dirty="0">
                <a:solidFill>
                  <a:srgbClr val="B6114D"/>
                </a:solidFill>
                <a:latin typeface="Times New Roman" panose="02020603050405020304" pitchFamily="18" charset="0"/>
                <a:cs typeface="Times New Roman" panose="02020603050405020304" pitchFamily="18" charset="0"/>
              </a:rPr>
              <a:t>GitHub URL</a:t>
            </a:r>
            <a:r>
              <a:rPr lang="en-US" b="1" dirty="0">
                <a:solidFill>
                  <a:srgbClr val="B6114D"/>
                </a:solidFill>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hlinkClick r:id="rId2"/>
              </a:rPr>
              <a:t>sanhithaac</a:t>
            </a:r>
            <a:r>
              <a:rPr lang="en-IN" sz="2800" dirty="0">
                <a:latin typeface="Times New Roman" panose="02020603050405020304" pitchFamily="18" charset="0"/>
                <a:cs typeface="Times New Roman" panose="02020603050405020304" pitchFamily="18" charset="0"/>
                <a:hlinkClick r:id="rId2"/>
              </a:rPr>
              <a:t>/Healing-Bridges-Digital-Mental-Health-Access-for-Women-and-Youth · GitHub</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0696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9" name="Google Shape;1029;p45"/>
          <p:cNvSpPr txBox="1"/>
          <p:nvPr/>
        </p:nvSpPr>
        <p:spPr>
          <a:xfrm>
            <a:off x="3477260" y="246010"/>
            <a:ext cx="5237480" cy="8925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86072"/>
              </a:buClr>
              <a:buSzPts val="2400"/>
              <a:buFont typeface="Times New Roman"/>
              <a:buNone/>
            </a:pPr>
            <a:r>
              <a:rPr lang="en-IN" sz="2800" b="1" i="0" u="none" strike="noStrike" cap="none" dirty="0">
                <a:solidFill>
                  <a:srgbClr val="086072"/>
                </a:solidFill>
                <a:latin typeface="Times New Roman" panose="02020603050405020304" pitchFamily="18" charset="0"/>
                <a:ea typeface="Times New Roman"/>
                <a:cs typeface="Times New Roman" panose="02020603050405020304" pitchFamily="18" charset="0"/>
                <a:sym typeface="Times New Roman"/>
              </a:rPr>
              <a:t> Case study Review 1</a:t>
            </a:r>
            <a:endParaRPr sz="2800" b="1" i="0" u="none" strike="noStrike" cap="none" dirty="0">
              <a:solidFill>
                <a:srgbClr val="086072"/>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100000"/>
              </a:lnSpc>
              <a:spcBef>
                <a:spcPts val="0"/>
              </a:spcBef>
              <a:spcAft>
                <a:spcPts val="0"/>
              </a:spcAft>
              <a:buClr>
                <a:srgbClr val="B6114D"/>
              </a:buClr>
              <a:buSzPts val="2000"/>
              <a:buFont typeface="Times New Roman"/>
              <a:buNone/>
            </a:pPr>
            <a:r>
              <a:rPr lang="en-IN" sz="2400" b="1" i="0" u="none" strike="noStrike" cap="none" dirty="0">
                <a:solidFill>
                  <a:srgbClr val="B6114D"/>
                </a:solidFill>
                <a:latin typeface="Times New Roman" panose="02020603050405020304" pitchFamily="18" charset="0"/>
                <a:ea typeface="Times New Roman"/>
                <a:cs typeface="Times New Roman" panose="02020603050405020304" pitchFamily="18" charset="0"/>
                <a:sym typeface="Times New Roman"/>
              </a:rPr>
              <a:t>Professor – T Senthil Kumar ( CSE)</a:t>
            </a:r>
            <a:endParaRPr sz="16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A088DCFA-72DE-E899-CB00-AE297C2DC07F}"/>
              </a:ext>
            </a:extLst>
          </p:cNvPr>
          <p:cNvGraphicFramePr>
            <a:graphicFrameLocks noGrp="1"/>
          </p:cNvGraphicFramePr>
          <p:nvPr>
            <p:extLst>
              <p:ext uri="{D42A27DB-BD31-4B8C-83A1-F6EECF244321}">
                <p14:modId xmlns:p14="http://schemas.microsoft.com/office/powerpoint/2010/main" val="1294480992"/>
              </p:ext>
            </p:extLst>
          </p:nvPr>
        </p:nvGraphicFramePr>
        <p:xfrm>
          <a:off x="109050" y="1696720"/>
          <a:ext cx="11973900" cy="4328161"/>
        </p:xfrm>
        <a:graphic>
          <a:graphicData uri="http://schemas.openxmlformats.org/drawingml/2006/table">
            <a:tbl>
              <a:tblPr firstRow="1" bandRow="1">
                <a:tableStyleId>{B229F12B-DD2F-434A-8BDD-88915C9BCD54}</a:tableStyleId>
              </a:tblPr>
              <a:tblGrid>
                <a:gridCol w="2217590">
                  <a:extLst>
                    <a:ext uri="{9D8B030D-6E8A-4147-A177-3AD203B41FA5}">
                      <a16:colId xmlns:a16="http://schemas.microsoft.com/office/drawing/2014/main" val="869307905"/>
                    </a:ext>
                  </a:extLst>
                </a:gridCol>
                <a:gridCol w="1534695">
                  <a:extLst>
                    <a:ext uri="{9D8B030D-6E8A-4147-A177-3AD203B41FA5}">
                      <a16:colId xmlns:a16="http://schemas.microsoft.com/office/drawing/2014/main" val="1947359790"/>
                    </a:ext>
                  </a:extLst>
                </a:gridCol>
                <a:gridCol w="1832190">
                  <a:extLst>
                    <a:ext uri="{9D8B030D-6E8A-4147-A177-3AD203B41FA5}">
                      <a16:colId xmlns:a16="http://schemas.microsoft.com/office/drawing/2014/main" val="1287143653"/>
                    </a:ext>
                  </a:extLst>
                </a:gridCol>
                <a:gridCol w="1927504">
                  <a:extLst>
                    <a:ext uri="{9D8B030D-6E8A-4147-A177-3AD203B41FA5}">
                      <a16:colId xmlns:a16="http://schemas.microsoft.com/office/drawing/2014/main" val="2854693601"/>
                    </a:ext>
                  </a:extLst>
                </a:gridCol>
                <a:gridCol w="1736876">
                  <a:extLst>
                    <a:ext uri="{9D8B030D-6E8A-4147-A177-3AD203B41FA5}">
                      <a16:colId xmlns:a16="http://schemas.microsoft.com/office/drawing/2014/main" val="2320148206"/>
                    </a:ext>
                  </a:extLst>
                </a:gridCol>
                <a:gridCol w="2725045">
                  <a:extLst>
                    <a:ext uri="{9D8B030D-6E8A-4147-A177-3AD203B41FA5}">
                      <a16:colId xmlns:a16="http://schemas.microsoft.com/office/drawing/2014/main" val="3931162415"/>
                    </a:ext>
                  </a:extLst>
                </a:gridCol>
              </a:tblGrid>
              <a:tr h="780226">
                <a:tc>
                  <a:txBody>
                    <a:bodyPr/>
                    <a:lstStyle/>
                    <a:p>
                      <a:pPr algn="ctr"/>
                      <a:r>
                        <a:rPr lang="en-IN" sz="1600" b="1" dirty="0">
                          <a:latin typeface="Times New Roman" panose="02020603050405020304" pitchFamily="18" charset="0"/>
                          <a:cs typeface="Times New Roman" panose="02020603050405020304" pitchFamily="18" charset="0"/>
                        </a:rPr>
                        <a:t>ROLL NUMBER </a:t>
                      </a:r>
                    </a:p>
                  </a:txBody>
                  <a:tcPr/>
                </a:tc>
                <a:tc>
                  <a:txBody>
                    <a:bodyPr/>
                    <a:lstStyle/>
                    <a:p>
                      <a:pPr algn="ctr"/>
                      <a:r>
                        <a:rPr lang="en-IN" sz="1600" b="1" dirty="0">
                          <a:latin typeface="Times New Roman" panose="02020603050405020304" pitchFamily="18" charset="0"/>
                          <a:cs typeface="Times New Roman" panose="02020603050405020304" pitchFamily="18" charset="0"/>
                        </a:rPr>
                        <a:t> NAME </a:t>
                      </a:r>
                    </a:p>
                  </a:txBody>
                  <a:tcPr/>
                </a:tc>
                <a:tc>
                  <a:txBody>
                    <a:bodyPr/>
                    <a:lstStyle/>
                    <a:p>
                      <a:pPr algn="ctr"/>
                      <a:r>
                        <a:rPr lang="en-IN" sz="1600" b="1" dirty="0">
                          <a:latin typeface="Times New Roman" panose="02020603050405020304" pitchFamily="18" charset="0"/>
                          <a:cs typeface="Times New Roman" panose="02020603050405020304" pitchFamily="18" charset="0"/>
                        </a:rPr>
                        <a:t>EMAIL </a:t>
                      </a:r>
                    </a:p>
                  </a:txBody>
                  <a:tcPr/>
                </a:tc>
                <a:tc>
                  <a:txBody>
                    <a:bodyPr/>
                    <a:lstStyle/>
                    <a:p>
                      <a:pPr algn="ctr"/>
                      <a:r>
                        <a:rPr lang="en-IN" sz="1600" b="1" dirty="0">
                          <a:latin typeface="Times New Roman" panose="02020603050405020304" pitchFamily="18" charset="0"/>
                          <a:cs typeface="Times New Roman" panose="02020603050405020304" pitchFamily="18" charset="0"/>
                        </a:rPr>
                        <a:t>MOBILE NUMBER </a:t>
                      </a:r>
                    </a:p>
                  </a:txBody>
                  <a:tcPr/>
                </a:tc>
                <a:tc>
                  <a:txBody>
                    <a:bodyPr/>
                    <a:lstStyle/>
                    <a:p>
                      <a:pPr algn="ctr"/>
                      <a:r>
                        <a:rPr lang="en-IN" sz="1600" b="1" dirty="0">
                          <a:latin typeface="Times New Roman" panose="02020603050405020304" pitchFamily="18" charset="0"/>
                          <a:cs typeface="Times New Roman" panose="02020603050405020304" pitchFamily="18" charset="0"/>
                        </a:rPr>
                        <a:t>PHOTO </a:t>
                      </a:r>
                    </a:p>
                  </a:txBody>
                  <a:tcPr/>
                </a:tc>
                <a:tc>
                  <a:txBody>
                    <a:bodyPr/>
                    <a:lstStyle/>
                    <a:p>
                      <a:pPr algn="ctr"/>
                      <a:r>
                        <a:rPr lang="en-IN" sz="1600" b="1" dirty="0">
                          <a:latin typeface="Times New Roman" panose="02020603050405020304" pitchFamily="18" charset="0"/>
                          <a:cs typeface="Times New Roman" panose="02020603050405020304" pitchFamily="18" charset="0"/>
                        </a:rPr>
                        <a:t>GITHUB URL</a:t>
                      </a:r>
                    </a:p>
                  </a:txBody>
                  <a:tcPr/>
                </a:tc>
                <a:extLst>
                  <a:ext uri="{0D108BD9-81ED-4DB2-BD59-A6C34878D82A}">
                    <a16:rowId xmlns:a16="http://schemas.microsoft.com/office/drawing/2014/main" val="1728576710"/>
                  </a:ext>
                </a:extLst>
              </a:tr>
              <a:tr h="1210695">
                <a:tc>
                  <a:txBody>
                    <a:bodyPr/>
                    <a:lstStyle/>
                    <a:p>
                      <a:r>
                        <a:rPr lang="en-IN" sz="1800" dirty="0">
                          <a:latin typeface="Times New Roman" panose="02020603050405020304" pitchFamily="18" charset="0"/>
                          <a:cs typeface="Times New Roman" panose="02020603050405020304" pitchFamily="18" charset="0"/>
                        </a:rPr>
                        <a:t>CB.SC.U4CSE23206</a:t>
                      </a:r>
                    </a:p>
                  </a:txBody>
                  <a:tcPr/>
                </a:tc>
                <a:tc>
                  <a:txBody>
                    <a:bodyPr/>
                    <a:lstStyle/>
                    <a:p>
                      <a:r>
                        <a:rPr lang="en-IN" sz="1800" dirty="0">
                          <a:latin typeface="Times New Roman" panose="02020603050405020304" pitchFamily="18" charset="0"/>
                          <a:cs typeface="Times New Roman" panose="02020603050405020304" pitchFamily="18" charset="0"/>
                        </a:rPr>
                        <a:t>A.C Sanhitha Reddy  </a:t>
                      </a:r>
                    </a:p>
                  </a:txBody>
                  <a:tcPr/>
                </a:tc>
                <a:tc>
                  <a:txBody>
                    <a:bodyPr/>
                    <a:lstStyle/>
                    <a:p>
                      <a:r>
                        <a:rPr lang="en-IN" sz="1800" dirty="0">
                          <a:latin typeface="Times New Roman" panose="02020603050405020304" pitchFamily="18" charset="0"/>
                          <a:cs typeface="Times New Roman" panose="02020603050405020304" pitchFamily="18" charset="0"/>
                        </a:rPr>
                        <a:t>cb.sc.u4cse23206@cb.students.amrita.edu</a:t>
                      </a:r>
                    </a:p>
                  </a:txBody>
                  <a:tcPr/>
                </a:tc>
                <a:tc>
                  <a:txBody>
                    <a:bodyPr/>
                    <a:lstStyle/>
                    <a:p>
                      <a:r>
                        <a:rPr lang="en-IN" sz="1800" dirty="0">
                          <a:latin typeface="Times New Roman" panose="02020603050405020304" pitchFamily="18" charset="0"/>
                          <a:cs typeface="Times New Roman" panose="02020603050405020304" pitchFamily="18" charset="0"/>
                        </a:rPr>
                        <a:t>9949804994</a:t>
                      </a:r>
                    </a:p>
                  </a:txBody>
                  <a:tcPr/>
                </a:tc>
                <a:tc>
                  <a:txBody>
                    <a:bodyPr/>
                    <a:lstStyle/>
                    <a:p>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800" dirty="0">
                          <a:latin typeface="Times New Roman" panose="02020603050405020304" pitchFamily="18" charset="0"/>
                          <a:cs typeface="Times New Roman" panose="02020603050405020304" pitchFamily="18" charset="0"/>
                        </a:rPr>
                        <a:t>https://github.com/sanhithaac</a:t>
                      </a:r>
                    </a:p>
                  </a:txBody>
                  <a:tcPr/>
                </a:tc>
                <a:extLst>
                  <a:ext uri="{0D108BD9-81ED-4DB2-BD59-A6C34878D82A}">
                    <a16:rowId xmlns:a16="http://schemas.microsoft.com/office/drawing/2014/main" val="531202076"/>
                  </a:ext>
                </a:extLst>
              </a:tr>
              <a:tr h="1168620">
                <a:tc>
                  <a:txBody>
                    <a:bodyPr/>
                    <a:lstStyle/>
                    <a:p>
                      <a:r>
                        <a:rPr lang="en-IN" sz="1800" dirty="0">
                          <a:latin typeface="Times New Roman" panose="02020603050405020304" pitchFamily="18" charset="0"/>
                          <a:cs typeface="Times New Roman" panose="02020603050405020304" pitchFamily="18" charset="0"/>
                        </a:rPr>
                        <a:t>CB.SC.U4CSE23245</a:t>
                      </a:r>
                    </a:p>
                  </a:txBody>
                  <a:tcPr/>
                </a:tc>
                <a:tc>
                  <a:txBody>
                    <a:bodyPr/>
                    <a:lstStyle/>
                    <a:p>
                      <a:r>
                        <a:rPr lang="en-IN" sz="1800" dirty="0">
                          <a:latin typeface="Times New Roman" panose="02020603050405020304" pitchFamily="18" charset="0"/>
                          <a:cs typeface="Times New Roman" panose="02020603050405020304" pitchFamily="18" charset="0"/>
                        </a:rPr>
                        <a:t>Shaik Abdus Sattar</a:t>
                      </a:r>
                    </a:p>
                  </a:txBody>
                  <a:tcPr/>
                </a:tc>
                <a:tc>
                  <a:txBody>
                    <a:bodyPr/>
                    <a:lstStyle/>
                    <a:p>
                      <a:r>
                        <a:rPr lang="en-IN" sz="1800" dirty="0">
                          <a:latin typeface="Times New Roman" panose="02020603050405020304" pitchFamily="18" charset="0"/>
                          <a:cs typeface="Times New Roman" panose="02020603050405020304" pitchFamily="18" charset="0"/>
                        </a:rPr>
                        <a:t>cb.sc.u4cse23245@cb.students.amrita.edu</a:t>
                      </a:r>
                    </a:p>
                  </a:txBody>
                  <a:tcPr/>
                </a:tc>
                <a:tc>
                  <a:txBody>
                    <a:bodyPr/>
                    <a:lstStyle/>
                    <a:p>
                      <a:r>
                        <a:rPr lang="en-IN" sz="1800" dirty="0">
                          <a:latin typeface="Times New Roman" panose="02020603050405020304" pitchFamily="18" charset="0"/>
                          <a:cs typeface="Times New Roman" panose="02020603050405020304" pitchFamily="18" charset="0"/>
                        </a:rPr>
                        <a:t>7032698579</a:t>
                      </a:r>
                    </a:p>
                  </a:txBody>
                  <a:tcPr/>
                </a:tc>
                <a:tc>
                  <a:txBody>
                    <a:bodyPr/>
                    <a:lstStyle/>
                    <a:p>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800" dirty="0">
                          <a:latin typeface="Times New Roman" panose="02020603050405020304" pitchFamily="18" charset="0"/>
                          <a:cs typeface="Times New Roman" panose="02020603050405020304" pitchFamily="18" charset="0"/>
                        </a:rPr>
                        <a:t>https://github.com/Seventie</a:t>
                      </a:r>
                    </a:p>
                  </a:txBody>
                  <a:tcPr/>
                </a:tc>
                <a:extLst>
                  <a:ext uri="{0D108BD9-81ED-4DB2-BD59-A6C34878D82A}">
                    <a16:rowId xmlns:a16="http://schemas.microsoft.com/office/drawing/2014/main" val="2634720748"/>
                  </a:ext>
                </a:extLst>
              </a:tr>
              <a:tr h="1168620">
                <a:tc>
                  <a:txBody>
                    <a:bodyPr/>
                    <a:lstStyle/>
                    <a:p>
                      <a:r>
                        <a:rPr lang="en-IN" sz="1800" dirty="0">
                          <a:latin typeface="Times New Roman" panose="02020603050405020304" pitchFamily="18" charset="0"/>
                          <a:cs typeface="Times New Roman" panose="02020603050405020304" pitchFamily="18" charset="0"/>
                        </a:rPr>
                        <a:t>CB.SC.U4CSE23165</a:t>
                      </a:r>
                    </a:p>
                  </a:txBody>
                  <a:tcPr/>
                </a:tc>
                <a:tc>
                  <a:txBody>
                    <a:bodyPr/>
                    <a:lstStyle/>
                    <a:p>
                      <a:r>
                        <a:rPr lang="en-IN" sz="1800" dirty="0">
                          <a:latin typeface="Times New Roman" panose="02020603050405020304" pitchFamily="18" charset="0"/>
                          <a:cs typeface="Times New Roman" panose="02020603050405020304" pitchFamily="18" charset="0"/>
                        </a:rPr>
                        <a:t>Thota Neha</a:t>
                      </a:r>
                    </a:p>
                  </a:txBody>
                  <a:tcPr/>
                </a:tc>
                <a:tc>
                  <a:txBody>
                    <a:bodyPr/>
                    <a:lstStyle/>
                    <a:p>
                      <a:r>
                        <a:rPr lang="en-IN" sz="1800" dirty="0">
                          <a:latin typeface="Times New Roman" panose="02020603050405020304" pitchFamily="18" charset="0"/>
                          <a:cs typeface="Times New Roman" panose="02020603050405020304" pitchFamily="18" charset="0"/>
                        </a:rPr>
                        <a:t>cb.sc.u4cse23165@cb.students.amrita.edu</a:t>
                      </a:r>
                    </a:p>
                  </a:txBody>
                  <a:tcPr/>
                </a:tc>
                <a:tc>
                  <a:txBody>
                    <a:bodyPr/>
                    <a:lstStyle/>
                    <a:p>
                      <a:r>
                        <a:rPr lang="en-IN" sz="1800" dirty="0">
                          <a:latin typeface="Times New Roman" panose="02020603050405020304" pitchFamily="18" charset="0"/>
                          <a:cs typeface="Times New Roman" panose="02020603050405020304" pitchFamily="18" charset="0"/>
                        </a:rPr>
                        <a:t>6281073629</a:t>
                      </a:r>
                    </a:p>
                  </a:txBody>
                  <a:tcPr/>
                </a:tc>
                <a:tc>
                  <a:txBody>
                    <a:bodyPr/>
                    <a:lstStyle/>
                    <a:p>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800" dirty="0">
                          <a:latin typeface="Times New Roman" panose="02020603050405020304" pitchFamily="18" charset="0"/>
                          <a:cs typeface="Times New Roman" panose="02020603050405020304" pitchFamily="18" charset="0"/>
                        </a:rPr>
                        <a:t>https://github.com/Thotaneha007</a:t>
                      </a:r>
                    </a:p>
                  </a:txBody>
                  <a:tcPr/>
                </a:tc>
                <a:extLst>
                  <a:ext uri="{0D108BD9-81ED-4DB2-BD59-A6C34878D82A}">
                    <a16:rowId xmlns:a16="http://schemas.microsoft.com/office/drawing/2014/main" val="322049997"/>
                  </a:ext>
                </a:extLst>
              </a:tr>
            </a:tbl>
          </a:graphicData>
        </a:graphic>
      </p:graphicFrame>
      <p:pic>
        <p:nvPicPr>
          <p:cNvPr id="5" name="Picture 4">
            <a:extLst>
              <a:ext uri="{FF2B5EF4-FFF2-40B4-BE49-F238E27FC236}">
                <a16:creationId xmlns:a16="http://schemas.microsoft.com/office/drawing/2014/main" id="{8D63B217-8DB1-EB78-1AEC-2AE6C84A6738}"/>
              </a:ext>
            </a:extLst>
          </p:cNvPr>
          <p:cNvPicPr>
            <a:picLocks noChangeAspect="1"/>
          </p:cNvPicPr>
          <p:nvPr/>
        </p:nvPicPr>
        <p:blipFill>
          <a:blip r:embed="rId3"/>
          <a:stretch>
            <a:fillRect/>
          </a:stretch>
        </p:blipFill>
        <p:spPr>
          <a:xfrm>
            <a:off x="7736841" y="2541416"/>
            <a:ext cx="1529080" cy="1106094"/>
          </a:xfrm>
          <a:prstGeom prst="rect">
            <a:avLst/>
          </a:prstGeom>
        </p:spPr>
      </p:pic>
      <p:pic>
        <p:nvPicPr>
          <p:cNvPr id="7" name="Picture 6">
            <a:extLst>
              <a:ext uri="{FF2B5EF4-FFF2-40B4-BE49-F238E27FC236}">
                <a16:creationId xmlns:a16="http://schemas.microsoft.com/office/drawing/2014/main" id="{D9B4647C-5216-912C-1ED2-74215902D546}"/>
              </a:ext>
            </a:extLst>
          </p:cNvPr>
          <p:cNvPicPr>
            <a:picLocks noChangeAspect="1"/>
          </p:cNvPicPr>
          <p:nvPr/>
        </p:nvPicPr>
        <p:blipFill>
          <a:blip r:embed="rId4"/>
          <a:srcRect l="10675" r="11564"/>
          <a:stretch>
            <a:fillRect/>
          </a:stretch>
        </p:blipFill>
        <p:spPr>
          <a:xfrm>
            <a:off x="7736842" y="3705629"/>
            <a:ext cx="1529080" cy="110609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CDBC7D9-1A42-01CF-7F95-D0E66A60E900}"/>
              </a:ext>
            </a:extLst>
          </p:cNvPr>
          <p:cNvSpPr>
            <a:spLocks noGrp="1"/>
          </p:cNvSpPr>
          <p:nvPr>
            <p:ph type="body" idx="1"/>
          </p:nvPr>
        </p:nvSpPr>
        <p:spPr>
          <a:xfrm>
            <a:off x="482600" y="1439545"/>
            <a:ext cx="10515600" cy="4351200"/>
          </a:xfrm>
        </p:spPr>
        <p:txBody>
          <a:bodyPr>
            <a:normAutofit/>
          </a:bodyPr>
          <a:lstStyle/>
          <a:p>
            <a:r>
              <a:rPr lang="en-US" sz="2400" b="1" dirty="0">
                <a:latin typeface="Times New Roman" panose="02020603050405020304" pitchFamily="18" charset="0"/>
                <a:cs typeface="Times New Roman" panose="02020603050405020304" pitchFamily="18" charset="0"/>
              </a:rPr>
              <a:t>Current Status: </a:t>
            </a:r>
            <a:r>
              <a:rPr lang="en-US" sz="2400" dirty="0">
                <a:latin typeface="Times New Roman" panose="02020603050405020304" pitchFamily="18" charset="0"/>
                <a:cs typeface="Times New Roman" panose="02020603050405020304" pitchFamily="18" charset="0"/>
              </a:rPr>
              <a:t>To be onboarded</a:t>
            </a:r>
          </a:p>
          <a:p>
            <a:r>
              <a:rPr lang="en-US" sz="2400" b="1" dirty="0">
                <a:latin typeface="Times New Roman" panose="02020603050405020304" pitchFamily="18" charset="0"/>
                <a:cs typeface="Times New Roman" panose="02020603050405020304" pitchFamily="18" charset="0"/>
              </a:rPr>
              <a:t>Target Collaborators:</a:t>
            </a:r>
          </a:p>
          <a:p>
            <a:pPr marL="50800" indent="0">
              <a:buNone/>
            </a:pPr>
            <a:r>
              <a:rPr lang="en-US" sz="2400" b="1" dirty="0">
                <a:latin typeface="Times New Roman" panose="02020603050405020304" pitchFamily="18" charset="0"/>
                <a:cs typeface="Times New Roman" panose="02020603050405020304" pitchFamily="18" charset="0"/>
                <a:sym typeface="Wingdings" panose="05000000000000000000" pitchFamily="2" charset="2"/>
              </a:rPr>
              <a:t>	</a:t>
            </a:r>
            <a:r>
              <a:rPr lang="en-IN" sz="24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sym typeface="Wingdings" panose="05000000000000000000" pitchFamily="2" charset="2"/>
              </a:rPr>
              <a:t> </a:t>
            </a:r>
            <a:r>
              <a:rPr lang="en-IN" sz="2000" dirty="0">
                <a:latin typeface="Times New Roman" panose="02020603050405020304" pitchFamily="18" charset="0"/>
                <a:cs typeface="Times New Roman" panose="02020603050405020304" pitchFamily="18" charset="0"/>
              </a:rPr>
              <a:t>Mental health professionals (psychologists, psychiatrists, </a:t>
            </a:r>
            <a:r>
              <a:rPr lang="en-IN" sz="2000" dirty="0" err="1">
                <a:latin typeface="Times New Roman" panose="02020603050405020304" pitchFamily="18" charset="0"/>
                <a:cs typeface="Times New Roman" panose="02020603050405020304" pitchFamily="18" charset="0"/>
              </a:rPr>
              <a:t>counselors</a:t>
            </a:r>
            <a:r>
              <a:rPr lang="en-IN" sz="2000" dirty="0">
                <a:latin typeface="Times New Roman" panose="02020603050405020304" pitchFamily="18" charset="0"/>
                <a:cs typeface="Times New Roman" panose="02020603050405020304" pitchFamily="18" charset="0"/>
              </a:rPr>
              <a: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 Women wellness organizations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 Youth mental health organizations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 NGOs working in mental health support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 Healthcare institutions &amp; clinics (for women and youth)</a:t>
            </a:r>
            <a:endParaRPr lang="en-IN" sz="2400" dirty="0">
              <a:latin typeface="Times New Roman" panose="02020603050405020304" pitchFamily="18" charset="0"/>
              <a:cs typeface="Times New Roman" panose="02020603050405020304" pitchFamily="18" charset="0"/>
            </a:endParaRPr>
          </a:p>
        </p:txBody>
      </p:sp>
      <p:sp>
        <p:nvSpPr>
          <p:cNvPr id="5" name="Google Shape;1035;p46">
            <a:extLst>
              <a:ext uri="{FF2B5EF4-FFF2-40B4-BE49-F238E27FC236}">
                <a16:creationId xmlns:a16="http://schemas.microsoft.com/office/drawing/2014/main" id="{3853D4EF-21DB-7EE1-010A-BCCA4660C508}"/>
              </a:ext>
            </a:extLst>
          </p:cNvPr>
          <p:cNvSpPr txBox="1">
            <a:spLocks noGrp="1"/>
          </p:cNvSpPr>
          <p:nvPr>
            <p:ph type="title"/>
          </p:nvPr>
        </p:nvSpPr>
        <p:spPr>
          <a:xfrm>
            <a:off x="565181" y="610655"/>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Collaborator Details </a:t>
            </a:r>
            <a:endParaRPr sz="5400" dirty="0"/>
          </a:p>
        </p:txBody>
      </p:sp>
    </p:spTree>
    <p:extLst>
      <p:ext uri="{BB962C8B-B14F-4D97-AF65-F5344CB8AC3E}">
        <p14:creationId xmlns:p14="http://schemas.microsoft.com/office/powerpoint/2010/main" val="3363198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A5120-56B8-4235-6132-3878495F5B5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EF79166-9759-7B6F-EA08-D87D87120492}"/>
              </a:ext>
            </a:extLst>
          </p:cNvPr>
          <p:cNvSpPr>
            <a:spLocks noGrp="1"/>
          </p:cNvSpPr>
          <p:nvPr>
            <p:ph type="body" idx="1"/>
          </p:nvPr>
        </p:nvSpPr>
        <p:spPr>
          <a:xfrm>
            <a:off x="502920" y="1094104"/>
            <a:ext cx="10515600" cy="4910455"/>
          </a:xfrm>
        </p:spPr>
        <p:txBody>
          <a:bodyPr>
            <a:normAutofit fontScale="92500" lnSpcReduction="10000"/>
          </a:bodyPr>
          <a:lstStyle/>
          <a:p>
            <a:r>
              <a:rPr lang="en-US" sz="2000" b="1" dirty="0">
                <a:latin typeface="Times New Roman" panose="02020603050405020304" pitchFamily="18" charset="0"/>
                <a:cs typeface="Times New Roman" panose="02020603050405020304" pitchFamily="18" charset="0"/>
              </a:rPr>
              <a:t>TENAWell</a:t>
            </a:r>
            <a:r>
              <a:rPr lang="en-US" sz="2000" dirty="0">
                <a:latin typeface="Times New Roman" panose="02020603050405020304" pitchFamily="18" charset="0"/>
                <a:cs typeface="Times New Roman" panose="02020603050405020304" pitchFamily="18" charset="0"/>
              </a:rPr>
              <a:t> is a digital mental health support platform for </a:t>
            </a:r>
            <a:r>
              <a:rPr lang="en-US" sz="2000" b="1" dirty="0">
                <a:latin typeface="Times New Roman" panose="02020603050405020304" pitchFamily="18" charset="0"/>
                <a:cs typeface="Times New Roman" panose="02020603050405020304" pitchFamily="18" charset="0"/>
              </a:rPr>
              <a:t>women and youth</a:t>
            </a:r>
            <a:r>
              <a:rPr lang="en-US" sz="2000" dirty="0">
                <a:latin typeface="Times New Roman" panose="02020603050405020304" pitchFamily="18" charset="0"/>
                <a:cs typeface="Times New Roman" panose="02020603050405020304" pitchFamily="18" charset="0"/>
              </a:rPr>
              <a:t>, designed to provide safe, anonymous, and stigma-free emotional care. The product enables users to express feelings through private journaling, receive empathetic support via a chatbot, and schedule therapy sessions when required. Users may remain anonymous or voluntarily share personal details based on their comfort.</a:t>
            </a:r>
          </a:p>
          <a:p>
            <a:r>
              <a:rPr lang="en-US" sz="2000" dirty="0">
                <a:latin typeface="Times New Roman" panose="02020603050405020304" pitchFamily="18" charset="0"/>
                <a:cs typeface="Times New Roman" panose="02020603050405020304" pitchFamily="18" charset="0"/>
              </a:rPr>
              <a:t>Inspired by existing mental health apps and chatbot-based wellness platforms, TENAWell integrates </a:t>
            </a:r>
            <a:r>
              <a:rPr lang="en-US" sz="2000" b="1" dirty="0">
                <a:latin typeface="Times New Roman" panose="02020603050405020304" pitchFamily="18" charset="0"/>
                <a:cs typeface="Times New Roman" panose="02020603050405020304" pitchFamily="18" charset="0"/>
              </a:rPr>
              <a:t>journaling, emotional analysis, therapy coordination, and progress tracking</a:t>
            </a:r>
            <a:r>
              <a:rPr lang="en-US" sz="2000" dirty="0">
                <a:latin typeface="Times New Roman" panose="02020603050405020304" pitchFamily="18" charset="0"/>
                <a:cs typeface="Times New Roman" panose="02020603050405020304" pitchFamily="18" charset="0"/>
              </a:rPr>
              <a:t> into a single system with strong emphasis on privacy and consent.</a:t>
            </a:r>
          </a:p>
          <a:p>
            <a:r>
              <a:rPr lang="en-US" sz="2000" b="1" dirty="0">
                <a:latin typeface="Times New Roman" panose="02020603050405020304" pitchFamily="18" charset="0"/>
                <a:cs typeface="Times New Roman" panose="02020603050405020304" pitchFamily="18" charset="0"/>
              </a:rPr>
              <a:t>Key Features:</a:t>
            </a:r>
            <a:r>
              <a:rPr lang="en-US" sz="2000" dirty="0">
                <a:latin typeface="Times New Roman" panose="02020603050405020304" pitchFamily="18" charset="0"/>
                <a:cs typeface="Times New Roman" panose="02020603050405020304" pitchFamily="18" charset="0"/>
              </a:rPr>
              <a:t> Anonymous onboarding, emotional journaling, supportive chatbot, therapy scheduling, pre- and post-therapy journaling, emotional trend analysis, doctor dashboard, progress reports, and safety alerts.</a:t>
            </a:r>
          </a:p>
          <a:p>
            <a:r>
              <a:rPr lang="en-US" sz="2000" b="1" dirty="0">
                <a:latin typeface="Times New Roman" panose="02020603050405020304" pitchFamily="18" charset="0"/>
                <a:cs typeface="Times New Roman" panose="02020603050405020304" pitchFamily="18" charset="0"/>
              </a:rPr>
              <a:t>Reports:</a:t>
            </a:r>
            <a:r>
              <a:rPr lang="en-US" sz="2000" dirty="0">
                <a:latin typeface="Times New Roman" panose="02020603050405020304" pitchFamily="18" charset="0"/>
                <a:cs typeface="Times New Roman" panose="02020603050405020304" pitchFamily="18" charset="0"/>
              </a:rPr>
              <a:t> Emotional trend reports, therapy progress comparison, weekly summaries, and doctor feedback (with consent).</a:t>
            </a:r>
          </a:p>
          <a:p>
            <a:r>
              <a:rPr lang="en-US" sz="2000" b="1" dirty="0">
                <a:latin typeface="Times New Roman" panose="02020603050405020304" pitchFamily="18" charset="0"/>
                <a:cs typeface="Times New Roman" panose="02020603050405020304" pitchFamily="18" charset="0"/>
              </a:rPr>
              <a:t>Requirements:</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Functional</a:t>
            </a:r>
            <a:r>
              <a:rPr lang="en-US" sz="2000" dirty="0">
                <a:latin typeface="Times New Roman" panose="02020603050405020304" pitchFamily="18" charset="0"/>
                <a:cs typeface="Times New Roman" panose="02020603050405020304" pitchFamily="18" charset="0"/>
              </a:rPr>
              <a:t> – Journaling, chatbot interaction, emotion analysis, therapy scheduling, report generation, doctor access.</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Non-Functional</a:t>
            </a:r>
            <a:r>
              <a:rPr lang="en-US" sz="2000" dirty="0">
                <a:latin typeface="Times New Roman" panose="02020603050405020304" pitchFamily="18" charset="0"/>
                <a:cs typeface="Times New Roman" panose="02020603050405020304" pitchFamily="18" charset="0"/>
              </a:rPr>
              <a:t> – Privacy, anonymity, security, reliability, scalability, and user-friendly design.</a:t>
            </a:r>
          </a:p>
          <a:p>
            <a:endParaRPr lang="en-IN" sz="2000" b="1" dirty="0">
              <a:latin typeface="Times New Roman" panose="02020603050405020304" pitchFamily="18" charset="0"/>
              <a:cs typeface="Times New Roman" panose="02020603050405020304" pitchFamily="18" charset="0"/>
            </a:endParaRPr>
          </a:p>
        </p:txBody>
      </p:sp>
      <p:sp>
        <p:nvSpPr>
          <p:cNvPr id="5" name="Google Shape;1035;p46">
            <a:extLst>
              <a:ext uri="{FF2B5EF4-FFF2-40B4-BE49-F238E27FC236}">
                <a16:creationId xmlns:a16="http://schemas.microsoft.com/office/drawing/2014/main" id="{09B661CC-74CD-FC9B-0436-3A774773F5E8}"/>
              </a:ext>
            </a:extLst>
          </p:cNvPr>
          <p:cNvSpPr txBox="1">
            <a:spLocks noGrp="1"/>
          </p:cNvSpPr>
          <p:nvPr>
            <p:ph type="title"/>
          </p:nvPr>
        </p:nvSpPr>
        <p:spPr>
          <a:xfrm>
            <a:off x="575341" y="355284"/>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Abstract</a:t>
            </a:r>
            <a:endParaRPr lang="en-IN" sz="5400" dirty="0"/>
          </a:p>
        </p:txBody>
      </p:sp>
    </p:spTree>
    <p:extLst>
      <p:ext uri="{BB962C8B-B14F-4D97-AF65-F5344CB8AC3E}">
        <p14:creationId xmlns:p14="http://schemas.microsoft.com/office/powerpoint/2010/main" val="2554876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70274-EA4B-5BE1-4DFA-3C1A39CCAEF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CBAED77-9226-DC5C-15E8-86F7EC42D1AC}"/>
              </a:ext>
            </a:extLst>
          </p:cNvPr>
          <p:cNvSpPr>
            <a:spLocks noGrp="1"/>
          </p:cNvSpPr>
          <p:nvPr>
            <p:ph type="body" idx="1"/>
          </p:nvPr>
        </p:nvSpPr>
        <p:spPr>
          <a:xfrm>
            <a:off x="502920" y="1094104"/>
            <a:ext cx="10515600" cy="4910455"/>
          </a:xfrm>
        </p:spPr>
        <p:txBody>
          <a:bodyPr>
            <a:normAutofit/>
          </a:bodyPr>
          <a:lstStyle/>
          <a:p>
            <a:r>
              <a:rPr lang="en-US" sz="2000" dirty="0">
                <a:latin typeface="Times New Roman" panose="02020603050405020304" pitchFamily="18" charset="0"/>
                <a:cs typeface="Times New Roman" panose="02020603050405020304" pitchFamily="18" charset="0"/>
              </a:rPr>
              <a:t>Mental health challenges among </a:t>
            </a:r>
            <a:r>
              <a:rPr lang="en-US" sz="2000" b="1" dirty="0">
                <a:latin typeface="Times New Roman" panose="02020603050405020304" pitchFamily="18" charset="0"/>
                <a:cs typeface="Times New Roman" panose="02020603050405020304" pitchFamily="18" charset="0"/>
              </a:rPr>
              <a:t>women and youth</a:t>
            </a:r>
            <a:r>
              <a:rPr lang="en-US" sz="2000" dirty="0">
                <a:latin typeface="Times New Roman" panose="02020603050405020304" pitchFamily="18" charset="0"/>
                <a:cs typeface="Times New Roman" panose="02020603050405020304" pitchFamily="18" charset="0"/>
              </a:rPr>
              <a:t> are often left unaddressed due to social stigma, fear of judgment, lack of privacy, and limited access to professional care. Many users need a </a:t>
            </a:r>
            <a:r>
              <a:rPr lang="en-US" sz="2000" b="1" dirty="0">
                <a:latin typeface="Times New Roman" panose="02020603050405020304" pitchFamily="18" charset="0"/>
                <a:cs typeface="Times New Roman" panose="02020603050405020304" pitchFamily="18" charset="0"/>
              </a:rPr>
              <a:t>safe, non-intrusive space</a:t>
            </a:r>
            <a:r>
              <a:rPr lang="en-US" sz="2000" dirty="0">
                <a:latin typeface="Times New Roman" panose="02020603050405020304" pitchFamily="18" charset="0"/>
                <a:cs typeface="Times New Roman" panose="02020603050405020304" pitchFamily="18" charset="0"/>
              </a:rPr>
              <a:t> to express their emotions before seeking formal therapy.</a:t>
            </a:r>
          </a:p>
          <a:p>
            <a:r>
              <a:rPr lang="en-US" sz="2000" dirty="0">
                <a:latin typeface="Times New Roman" panose="02020603050405020304" pitchFamily="18" charset="0"/>
                <a:cs typeface="Times New Roman" panose="02020603050405020304" pitchFamily="18" charset="0"/>
              </a:rPr>
              <a:t>From a </a:t>
            </a:r>
            <a:r>
              <a:rPr lang="en-US" sz="2000" b="1" dirty="0">
                <a:latin typeface="Times New Roman" panose="02020603050405020304" pitchFamily="18" charset="0"/>
                <a:cs typeface="Times New Roman" panose="02020603050405020304" pitchFamily="18" charset="0"/>
              </a:rPr>
              <a:t>usage and need perspective</a:t>
            </a:r>
            <a:r>
              <a:rPr lang="en-US" sz="2000" dirty="0">
                <a:latin typeface="Times New Roman" panose="02020603050405020304" pitchFamily="18" charset="0"/>
                <a:cs typeface="Times New Roman" panose="02020603050405020304" pitchFamily="18" charset="0"/>
              </a:rPr>
              <a:t>, users increasingly rely on digital platforms for emotional expression, self-reflection, and mental well-being support. However, existing solutions often lack anonymity, continuous progress tracking, or integrated doctor collaboration.</a:t>
            </a:r>
          </a:p>
          <a:p>
            <a:r>
              <a:rPr lang="en-US" sz="2000" dirty="0">
                <a:latin typeface="Times New Roman" panose="02020603050405020304" pitchFamily="18" charset="0"/>
                <a:cs typeface="Times New Roman" panose="02020603050405020304" pitchFamily="18" charset="0"/>
              </a:rPr>
              <a:t>From a </a:t>
            </a:r>
            <a:r>
              <a:rPr lang="en-US" sz="2000" b="1" dirty="0">
                <a:latin typeface="Times New Roman" panose="02020603050405020304" pitchFamily="18" charset="0"/>
                <a:cs typeface="Times New Roman" panose="02020603050405020304" pitchFamily="18" charset="0"/>
              </a:rPr>
              <a:t>social perspective</a:t>
            </a:r>
            <a:r>
              <a:rPr lang="en-US" sz="2000" dirty="0">
                <a:latin typeface="Times New Roman" panose="02020603050405020304" pitchFamily="18" charset="0"/>
                <a:cs typeface="Times New Roman" panose="02020603050405020304" pitchFamily="18" charset="0"/>
              </a:rPr>
              <a:t>, concerns about identity disclosure and societal judgment prevent many individuals from openly discussing mental health issues. An anonymous, consent-based system encourages early emotional expression and reduces stigma.</a:t>
            </a:r>
          </a:p>
          <a:p>
            <a:r>
              <a:rPr lang="en-US" sz="2000" dirty="0">
                <a:latin typeface="Times New Roman" panose="02020603050405020304" pitchFamily="18" charset="0"/>
                <a:cs typeface="Times New Roman" panose="02020603050405020304" pitchFamily="18" charset="0"/>
              </a:rPr>
              <a:t>From a </a:t>
            </a:r>
            <a:r>
              <a:rPr lang="en-US" sz="2000" b="1" dirty="0">
                <a:latin typeface="Times New Roman" panose="02020603050405020304" pitchFamily="18" charset="0"/>
                <a:cs typeface="Times New Roman" panose="02020603050405020304" pitchFamily="18" charset="0"/>
              </a:rPr>
              <a:t>workflow perspective</a:t>
            </a:r>
            <a:r>
              <a:rPr lang="en-US" sz="2000" dirty="0">
                <a:latin typeface="Times New Roman" panose="02020603050405020304" pitchFamily="18" charset="0"/>
                <a:cs typeface="Times New Roman" panose="02020603050405020304" pitchFamily="18" charset="0"/>
              </a:rPr>
              <a:t>, users need structured journaling, emotional tracking, and organized reports that help both users and doctors understand emotional progress over time.</a:t>
            </a:r>
          </a:p>
          <a:p>
            <a:r>
              <a:rPr lang="en-US" sz="2000" b="1" dirty="0">
                <a:latin typeface="Times New Roman" panose="02020603050405020304" pitchFamily="18" charset="0"/>
                <a:cs typeface="Times New Roman" panose="02020603050405020304" pitchFamily="18" charset="0"/>
              </a:rPr>
              <a:t>TENAWell</a:t>
            </a:r>
            <a:r>
              <a:rPr lang="en-US" sz="2000" dirty="0">
                <a:latin typeface="Times New Roman" panose="02020603050405020304" pitchFamily="18" charset="0"/>
                <a:cs typeface="Times New Roman" panose="02020603050405020304" pitchFamily="18" charset="0"/>
              </a:rPr>
              <a:t> addresses these needs using an </a:t>
            </a:r>
            <a:r>
              <a:rPr lang="en-US" sz="2000" b="1" dirty="0">
                <a:latin typeface="Times New Roman" panose="02020603050405020304" pitchFamily="18" charset="0"/>
                <a:cs typeface="Times New Roman" panose="02020603050405020304" pitchFamily="18" charset="0"/>
              </a:rPr>
              <a:t>AI-assisted solution</a:t>
            </a:r>
            <a:r>
              <a:rPr lang="en-US" sz="2000" dirty="0">
                <a:latin typeface="Times New Roman" panose="02020603050405020304" pitchFamily="18" charset="0"/>
                <a:cs typeface="Times New Roman" panose="02020603050405020304" pitchFamily="18" charset="0"/>
              </a:rPr>
              <a:t> that combines journaling, emotionally supportive chatbot interactions, progress analysis, and consent-based doctor access, creating a holistic and user-centered mental health support system.</a:t>
            </a:r>
          </a:p>
          <a:p>
            <a:endParaRPr lang="en-IN" sz="2000" b="1" dirty="0">
              <a:latin typeface="Times New Roman" panose="02020603050405020304" pitchFamily="18" charset="0"/>
              <a:cs typeface="Times New Roman" panose="02020603050405020304" pitchFamily="18" charset="0"/>
            </a:endParaRPr>
          </a:p>
        </p:txBody>
      </p:sp>
      <p:sp>
        <p:nvSpPr>
          <p:cNvPr id="5" name="Google Shape;1035;p46">
            <a:extLst>
              <a:ext uri="{FF2B5EF4-FFF2-40B4-BE49-F238E27FC236}">
                <a16:creationId xmlns:a16="http://schemas.microsoft.com/office/drawing/2014/main" id="{1FB34808-D4DB-60DE-419E-DF265CF06D4E}"/>
              </a:ext>
            </a:extLst>
          </p:cNvPr>
          <p:cNvSpPr txBox="1">
            <a:spLocks noGrp="1"/>
          </p:cNvSpPr>
          <p:nvPr>
            <p:ph type="title"/>
          </p:nvPr>
        </p:nvSpPr>
        <p:spPr>
          <a:xfrm>
            <a:off x="575341" y="355284"/>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Introduction</a:t>
            </a:r>
            <a:endParaRPr lang="en-IN" sz="5400" dirty="0"/>
          </a:p>
        </p:txBody>
      </p:sp>
    </p:spTree>
    <p:extLst>
      <p:ext uri="{BB962C8B-B14F-4D97-AF65-F5344CB8AC3E}">
        <p14:creationId xmlns:p14="http://schemas.microsoft.com/office/powerpoint/2010/main" val="6665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2550F-90F2-EEED-3DB9-921FE1BA119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2EB7B24-CBE8-8AE0-4100-E6E96F5118B2}"/>
              </a:ext>
            </a:extLst>
          </p:cNvPr>
          <p:cNvSpPr>
            <a:spLocks noGrp="1"/>
          </p:cNvSpPr>
          <p:nvPr>
            <p:ph type="body" idx="1"/>
          </p:nvPr>
        </p:nvSpPr>
        <p:spPr>
          <a:xfrm>
            <a:off x="462280" y="811884"/>
            <a:ext cx="10515600" cy="5253636"/>
          </a:xfrm>
        </p:spPr>
        <p:txBody>
          <a:bodyPr>
            <a:noAutofit/>
          </a:bodyPr>
          <a:lstStyle/>
          <a:p>
            <a:pPr marL="50800" indent="0">
              <a:buNone/>
            </a:pPr>
            <a:r>
              <a:rPr lang="en-US" sz="1600" dirty="0">
                <a:latin typeface="Times New Roman" panose="02020603050405020304" pitchFamily="18" charset="0"/>
                <a:cs typeface="Times New Roman" panose="02020603050405020304" pitchFamily="18" charset="0"/>
              </a:rPr>
              <a:t>Artificial Intelligence plays a </a:t>
            </a:r>
            <a:r>
              <a:rPr lang="en-US" sz="1600" b="1" dirty="0">
                <a:latin typeface="Times New Roman" panose="02020603050405020304" pitchFamily="18" charset="0"/>
                <a:cs typeface="Times New Roman" panose="02020603050405020304" pitchFamily="18" charset="0"/>
              </a:rPr>
              <a:t>supportive and assistive role</a:t>
            </a:r>
            <a:r>
              <a:rPr lang="en-US" sz="1600" dirty="0">
                <a:latin typeface="Times New Roman" panose="02020603050405020304" pitchFamily="18" charset="0"/>
                <a:cs typeface="Times New Roman" panose="02020603050405020304" pitchFamily="18" charset="0"/>
              </a:rPr>
              <a:t> in TENAWell, enhancing emotional care while ensuring ethical and human-centered interaction.</a:t>
            </a:r>
          </a:p>
          <a:p>
            <a:r>
              <a:rPr lang="en-US" sz="1600" b="1" dirty="0">
                <a:latin typeface="Times New Roman" panose="02020603050405020304" pitchFamily="18" charset="0"/>
                <a:cs typeface="Times New Roman" panose="02020603050405020304" pitchFamily="18" charset="0"/>
              </a:rPr>
              <a:t>Emotion &amp; Sentiment Analysis: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AI analyzes journal entries and chatbot conversations to identify emotional patterns such as stress, anxiety, or emotional improvement over time.</a:t>
            </a:r>
          </a:p>
          <a:p>
            <a:r>
              <a:rPr lang="en-US" sz="1600" b="1" dirty="0">
                <a:latin typeface="Times New Roman" panose="02020603050405020304" pitchFamily="18" charset="0"/>
                <a:cs typeface="Times New Roman" panose="02020603050405020304" pitchFamily="18" charset="0"/>
              </a:rPr>
              <a:t>Emotionally Supportive Chatbot: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AI powers a conversational chatbot that conducts gentle check-ins, asks reflective questions, and provides empathetic responses without replacing human professionals.</a:t>
            </a:r>
          </a:p>
          <a:p>
            <a:r>
              <a:rPr lang="en-US" sz="1600" b="1" dirty="0">
                <a:latin typeface="Times New Roman" panose="02020603050405020304" pitchFamily="18" charset="0"/>
                <a:cs typeface="Times New Roman" panose="02020603050405020304" pitchFamily="18" charset="0"/>
              </a:rPr>
              <a:t>Personalized Coping Suggestions: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Based on emotional analysis, AI suggests simple, non-clinical self-care actions such as breathing exercises, short breaks, or reflection prompts.</a:t>
            </a:r>
          </a:p>
          <a:p>
            <a:r>
              <a:rPr lang="en-US" sz="1600" b="1" dirty="0">
                <a:latin typeface="Times New Roman" panose="02020603050405020304" pitchFamily="18" charset="0"/>
                <a:cs typeface="Times New Roman" panose="02020603050405020304" pitchFamily="18" charset="0"/>
              </a:rPr>
              <a:t>Progress Tracking &amp; Reports: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AI helps generate emotional trend reports and pre- vs post-therapy comparisons that assist doctors in monitoring user progress.</a:t>
            </a:r>
          </a:p>
          <a:p>
            <a:r>
              <a:rPr lang="en-US" sz="1600" b="1" dirty="0">
                <a:latin typeface="Times New Roman" panose="02020603050405020304" pitchFamily="18" charset="0"/>
                <a:cs typeface="Times New Roman" panose="02020603050405020304" pitchFamily="18" charset="0"/>
              </a:rPr>
              <a:t>Risk Detection &amp; Safety Alerts: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AI detects high-risk keywords (e.g., self-harm or suicidal ideation) and triggers supportive alerts and guidance while maintaining user privacy.</a:t>
            </a:r>
          </a:p>
          <a:p>
            <a:r>
              <a:rPr lang="en-US" sz="1600" b="1" dirty="0">
                <a:latin typeface="Times New Roman" panose="02020603050405020304" pitchFamily="18" charset="0"/>
                <a:cs typeface="Times New Roman" panose="02020603050405020304" pitchFamily="18" charset="0"/>
              </a:rPr>
              <a:t>Consent-Based Data Handling:</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AI processes data only with user consent and ensures anonymized insights are shared with doctors when permitted.</a:t>
            </a:r>
          </a:p>
        </p:txBody>
      </p:sp>
      <p:sp>
        <p:nvSpPr>
          <p:cNvPr id="5" name="Google Shape;1035;p46">
            <a:extLst>
              <a:ext uri="{FF2B5EF4-FFF2-40B4-BE49-F238E27FC236}">
                <a16:creationId xmlns:a16="http://schemas.microsoft.com/office/drawing/2014/main" id="{5EA572AB-3BA6-17FB-9016-5CEC7B5B142A}"/>
              </a:ext>
            </a:extLst>
          </p:cNvPr>
          <p:cNvSpPr txBox="1">
            <a:spLocks noGrp="1"/>
          </p:cNvSpPr>
          <p:nvPr>
            <p:ph type="title"/>
          </p:nvPr>
        </p:nvSpPr>
        <p:spPr>
          <a:xfrm>
            <a:off x="575341" y="355284"/>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What is AI Role in this product ?</a:t>
            </a:r>
            <a:endParaRPr lang="en-IN" sz="5400" dirty="0"/>
          </a:p>
        </p:txBody>
      </p:sp>
    </p:spTree>
    <p:extLst>
      <p:ext uri="{BB962C8B-B14F-4D97-AF65-F5344CB8AC3E}">
        <p14:creationId xmlns:p14="http://schemas.microsoft.com/office/powerpoint/2010/main" val="724323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728D0-5530-66EE-F5CE-9E2AED90CF4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01EC42D-47F7-2EE8-BF14-57A2EDE3B6C6}"/>
              </a:ext>
            </a:extLst>
          </p:cNvPr>
          <p:cNvSpPr>
            <a:spLocks noGrp="1"/>
          </p:cNvSpPr>
          <p:nvPr>
            <p:ph type="body" idx="1"/>
          </p:nvPr>
        </p:nvSpPr>
        <p:spPr>
          <a:xfrm>
            <a:off x="0" y="599440"/>
            <a:ext cx="5958840" cy="5253636"/>
          </a:xfrm>
        </p:spPr>
        <p:txBody>
          <a:bodyPr>
            <a:noAutofit/>
          </a:bodyPr>
          <a:lstStyle/>
          <a:p>
            <a:pPr marL="50800" indent="0">
              <a:buNone/>
            </a:pPr>
            <a:r>
              <a:rPr lang="en-IN" sz="1300" b="1" dirty="0">
                <a:latin typeface="Times New Roman" panose="02020603050405020304" pitchFamily="18" charset="0"/>
                <a:cs typeface="Times New Roman" panose="02020603050405020304" pitchFamily="18" charset="0"/>
              </a:rPr>
              <a:t>1. Natural Language Processing (NLP) – Sentiment &amp; Emotion Analysis</a:t>
            </a:r>
          </a:p>
          <a:p>
            <a:pPr marL="50800" indent="0">
              <a:buNone/>
            </a:pPr>
            <a:r>
              <a:rPr lang="en-IN" sz="1300" b="1" dirty="0">
                <a:latin typeface="Times New Roman" panose="02020603050405020304" pitchFamily="18" charset="0"/>
                <a:cs typeface="Times New Roman" panose="02020603050405020304" pitchFamily="18" charset="0"/>
              </a:rPr>
              <a:t>Algorithm/Models:</a:t>
            </a:r>
            <a:endParaRPr lang="en-IN" sz="1300" dirty="0">
              <a:latin typeface="Times New Roman" panose="02020603050405020304" pitchFamily="18" charset="0"/>
              <a:cs typeface="Times New Roman" panose="02020603050405020304" pitchFamily="18" charset="0"/>
            </a:endParaRPr>
          </a:p>
          <a:p>
            <a:pPr marL="533400" lvl="1" indent="0">
              <a:buNone/>
            </a:pPr>
            <a:r>
              <a:rPr lang="en-IN" sz="1300" dirty="0">
                <a:latin typeface="Times New Roman" panose="02020603050405020304" pitchFamily="18" charset="0"/>
                <a:cs typeface="Times New Roman" panose="02020603050405020304" pitchFamily="18" charset="0"/>
              </a:rPr>
              <a:t>TF-IDF / Word Embeddings + ML classifiers (early stage)</a:t>
            </a:r>
          </a:p>
          <a:p>
            <a:pPr marL="533400" lvl="1" indent="0">
              <a:buNone/>
            </a:pPr>
            <a:r>
              <a:rPr lang="en-IN" sz="1300" dirty="0">
                <a:latin typeface="Times New Roman" panose="02020603050405020304" pitchFamily="18" charset="0"/>
                <a:cs typeface="Times New Roman" panose="02020603050405020304" pitchFamily="18" charset="0"/>
              </a:rPr>
              <a:t>Transformer-based models (LLM-based) for advanced analysis</a:t>
            </a:r>
          </a:p>
          <a:p>
            <a:pPr marL="50800" indent="0">
              <a:buNone/>
            </a:pPr>
            <a:r>
              <a:rPr lang="en-IN" sz="1300" b="1" dirty="0">
                <a:latin typeface="Times New Roman" panose="02020603050405020304" pitchFamily="18" charset="0"/>
                <a:cs typeface="Times New Roman" panose="02020603050405020304" pitchFamily="18" charset="0"/>
              </a:rPr>
              <a:t>Purpose:</a:t>
            </a:r>
            <a:endParaRPr lang="en-IN" sz="1300" dirty="0">
              <a:latin typeface="Times New Roman" panose="02020603050405020304" pitchFamily="18" charset="0"/>
              <a:cs typeface="Times New Roman" panose="02020603050405020304" pitchFamily="18" charset="0"/>
            </a:endParaRPr>
          </a:p>
          <a:p>
            <a:pPr marL="533400" lvl="1" indent="0">
              <a:buNone/>
            </a:pPr>
            <a:r>
              <a:rPr lang="en-IN" sz="1300" dirty="0" err="1">
                <a:latin typeface="Times New Roman" panose="02020603050405020304" pitchFamily="18" charset="0"/>
                <a:cs typeface="Times New Roman" panose="02020603050405020304" pitchFamily="18" charset="0"/>
              </a:rPr>
              <a:t>Analyze</a:t>
            </a:r>
            <a:r>
              <a:rPr lang="en-IN" sz="1300" dirty="0">
                <a:latin typeface="Times New Roman" panose="02020603050405020304" pitchFamily="18" charset="0"/>
                <a:cs typeface="Times New Roman" panose="02020603050405020304" pitchFamily="18" charset="0"/>
              </a:rPr>
              <a:t> journal entries and chatbot conversations</a:t>
            </a:r>
          </a:p>
          <a:p>
            <a:pPr marL="533400" lvl="1" indent="0">
              <a:buNone/>
            </a:pPr>
            <a:r>
              <a:rPr lang="en-IN" sz="1300" dirty="0">
                <a:latin typeface="Times New Roman" panose="02020603050405020304" pitchFamily="18" charset="0"/>
                <a:cs typeface="Times New Roman" panose="02020603050405020304" pitchFamily="18" charset="0"/>
              </a:rPr>
              <a:t>Detect emotions such as stress, anxiety, sadness, or </a:t>
            </a:r>
          </a:p>
          <a:p>
            <a:pPr marL="533400" lvl="1" indent="0">
              <a:buNone/>
            </a:pPr>
            <a:r>
              <a:rPr lang="en-IN" sz="1300" dirty="0">
                <a:latin typeface="Times New Roman" panose="02020603050405020304" pitchFamily="18" charset="0"/>
                <a:cs typeface="Times New Roman" panose="02020603050405020304" pitchFamily="18" charset="0"/>
              </a:rPr>
              <a:t>improvement</a:t>
            </a:r>
          </a:p>
          <a:p>
            <a:pPr marL="50800" indent="0">
              <a:buNone/>
            </a:pPr>
            <a:r>
              <a:rPr lang="en-IN" sz="1300" b="1" dirty="0">
                <a:latin typeface="Times New Roman" panose="02020603050405020304" pitchFamily="18" charset="0"/>
                <a:cs typeface="Times New Roman" panose="02020603050405020304" pitchFamily="18" charset="0"/>
              </a:rPr>
              <a:t>Scenario:</a:t>
            </a:r>
            <a:endParaRPr lang="en-IN" sz="1300" dirty="0">
              <a:latin typeface="Times New Roman" panose="02020603050405020304" pitchFamily="18" charset="0"/>
              <a:cs typeface="Times New Roman" panose="02020603050405020304" pitchFamily="18" charset="0"/>
            </a:endParaRPr>
          </a:p>
          <a:p>
            <a:pPr marL="533400" lvl="1" indent="0">
              <a:buNone/>
            </a:pPr>
            <a:r>
              <a:rPr lang="en-IN" sz="1300" dirty="0">
                <a:latin typeface="Times New Roman" panose="02020603050405020304" pitchFamily="18" charset="0"/>
                <a:cs typeface="Times New Roman" panose="02020603050405020304" pitchFamily="18" charset="0"/>
              </a:rPr>
              <a:t>Understanding user emotional state from written text</a:t>
            </a:r>
          </a:p>
          <a:p>
            <a:pPr marL="50800" indent="0">
              <a:buNone/>
            </a:pPr>
            <a:endParaRPr lang="en-IN" sz="1300" b="1" dirty="0">
              <a:latin typeface="Times New Roman" panose="02020603050405020304" pitchFamily="18" charset="0"/>
              <a:cs typeface="Times New Roman" panose="02020603050405020304" pitchFamily="18" charset="0"/>
            </a:endParaRPr>
          </a:p>
          <a:p>
            <a:pPr marL="50800" indent="0">
              <a:buNone/>
            </a:pPr>
            <a:endParaRPr lang="en-IN" sz="1300" b="1" dirty="0">
              <a:latin typeface="Times New Roman" panose="02020603050405020304" pitchFamily="18" charset="0"/>
              <a:cs typeface="Times New Roman" panose="02020603050405020304" pitchFamily="18" charset="0"/>
            </a:endParaRPr>
          </a:p>
          <a:p>
            <a:pPr marL="50800" indent="0">
              <a:buNone/>
            </a:pPr>
            <a:r>
              <a:rPr lang="en-IN" sz="1300" b="1" dirty="0">
                <a:latin typeface="Times New Roman" panose="02020603050405020304" pitchFamily="18" charset="0"/>
                <a:cs typeface="Times New Roman" panose="02020603050405020304" pitchFamily="18" charset="0"/>
              </a:rPr>
              <a:t>3. Rule-Based + NLP Keyword Detection (Safety Layer)</a:t>
            </a:r>
          </a:p>
          <a:p>
            <a:pPr marL="50800" indent="0">
              <a:buNone/>
            </a:pPr>
            <a:r>
              <a:rPr lang="en-IN" sz="1300" b="1" dirty="0">
                <a:latin typeface="Times New Roman" panose="02020603050405020304" pitchFamily="18" charset="0"/>
                <a:cs typeface="Times New Roman" panose="02020603050405020304" pitchFamily="18" charset="0"/>
              </a:rPr>
              <a:t>Algorithm Type:</a:t>
            </a:r>
            <a:endParaRPr lang="en-IN" sz="1300" dirty="0">
              <a:latin typeface="Times New Roman" panose="02020603050405020304" pitchFamily="18" charset="0"/>
              <a:cs typeface="Times New Roman" panose="02020603050405020304" pitchFamily="18" charset="0"/>
            </a:endParaRPr>
          </a:p>
          <a:p>
            <a:pPr marL="533400" lvl="1" indent="0">
              <a:buNone/>
            </a:pPr>
            <a:r>
              <a:rPr lang="en-IN" sz="1300" dirty="0">
                <a:latin typeface="Times New Roman" panose="02020603050405020304" pitchFamily="18" charset="0"/>
                <a:cs typeface="Times New Roman" panose="02020603050405020304" pitchFamily="18" charset="0"/>
              </a:rPr>
              <a:t>Keyword matching + NLP-based risk classification</a:t>
            </a:r>
          </a:p>
          <a:p>
            <a:pPr marL="50800" indent="0">
              <a:buNone/>
            </a:pPr>
            <a:r>
              <a:rPr lang="en-IN" sz="1300" b="1" dirty="0">
                <a:latin typeface="Times New Roman" panose="02020603050405020304" pitchFamily="18" charset="0"/>
                <a:cs typeface="Times New Roman" panose="02020603050405020304" pitchFamily="18" charset="0"/>
              </a:rPr>
              <a:t>Purpose:</a:t>
            </a:r>
            <a:endParaRPr lang="en-IN" sz="1300" dirty="0">
              <a:latin typeface="Times New Roman" panose="02020603050405020304" pitchFamily="18" charset="0"/>
              <a:cs typeface="Times New Roman" panose="02020603050405020304" pitchFamily="18" charset="0"/>
            </a:endParaRPr>
          </a:p>
          <a:p>
            <a:pPr marL="533400" lvl="1" indent="0">
              <a:buNone/>
            </a:pPr>
            <a:r>
              <a:rPr lang="en-IN" sz="1300" dirty="0">
                <a:latin typeface="Times New Roman" panose="02020603050405020304" pitchFamily="18" charset="0"/>
                <a:cs typeface="Times New Roman" panose="02020603050405020304" pitchFamily="18" charset="0"/>
              </a:rPr>
              <a:t>Identify high-risk content such as self-harm or suicidal ideation</a:t>
            </a:r>
          </a:p>
          <a:p>
            <a:pPr marL="50800" indent="0">
              <a:buNone/>
            </a:pPr>
            <a:r>
              <a:rPr lang="en-IN" sz="1300" b="1" dirty="0">
                <a:latin typeface="Times New Roman" panose="02020603050405020304" pitchFamily="18" charset="0"/>
                <a:cs typeface="Times New Roman" panose="02020603050405020304" pitchFamily="18" charset="0"/>
              </a:rPr>
              <a:t>Scenario:</a:t>
            </a:r>
            <a:endParaRPr lang="en-IN" sz="1300" dirty="0">
              <a:latin typeface="Times New Roman" panose="02020603050405020304" pitchFamily="18" charset="0"/>
              <a:cs typeface="Times New Roman" panose="02020603050405020304" pitchFamily="18" charset="0"/>
            </a:endParaRPr>
          </a:p>
          <a:p>
            <a:pPr marL="533400" lvl="1" indent="0">
              <a:buNone/>
            </a:pPr>
            <a:r>
              <a:rPr lang="en-IN" sz="1300" dirty="0">
                <a:latin typeface="Times New Roman" panose="02020603050405020304" pitchFamily="18" charset="0"/>
                <a:cs typeface="Times New Roman" panose="02020603050405020304" pitchFamily="18" charset="0"/>
              </a:rPr>
              <a:t>Trigger safety alerts and encourage professional support</a:t>
            </a:r>
          </a:p>
          <a:p>
            <a:pPr marL="50800" indent="0">
              <a:buNone/>
            </a:pPr>
            <a:br>
              <a:rPr lang="en-IN" sz="1300" dirty="0">
                <a:latin typeface="Times New Roman" panose="02020603050405020304" pitchFamily="18" charset="0"/>
                <a:cs typeface="Times New Roman" panose="02020603050405020304" pitchFamily="18" charset="0"/>
              </a:rPr>
            </a:br>
            <a:endParaRPr lang="en-IN" sz="1300" dirty="0">
              <a:latin typeface="Times New Roman" panose="02020603050405020304" pitchFamily="18" charset="0"/>
              <a:cs typeface="Times New Roman" panose="02020603050405020304" pitchFamily="18" charset="0"/>
            </a:endParaRPr>
          </a:p>
          <a:p>
            <a:pPr marL="50800" indent="0">
              <a:buNone/>
            </a:pPr>
            <a:br>
              <a:rPr lang="en-IN" sz="1300" dirty="0">
                <a:latin typeface="Times New Roman" panose="02020603050405020304" pitchFamily="18" charset="0"/>
                <a:cs typeface="Times New Roman" panose="02020603050405020304" pitchFamily="18" charset="0"/>
              </a:rPr>
            </a:br>
            <a:endParaRPr lang="en-US" sz="1300" dirty="0">
              <a:latin typeface="Times New Roman" panose="02020603050405020304" pitchFamily="18" charset="0"/>
              <a:cs typeface="Times New Roman" panose="02020603050405020304" pitchFamily="18" charset="0"/>
            </a:endParaRPr>
          </a:p>
        </p:txBody>
      </p:sp>
      <p:sp>
        <p:nvSpPr>
          <p:cNvPr id="5" name="Google Shape;1035;p46">
            <a:extLst>
              <a:ext uri="{FF2B5EF4-FFF2-40B4-BE49-F238E27FC236}">
                <a16:creationId xmlns:a16="http://schemas.microsoft.com/office/drawing/2014/main" id="{90B103B5-D53C-3932-1982-B6B7E6A0F551}"/>
              </a:ext>
            </a:extLst>
          </p:cNvPr>
          <p:cNvSpPr txBox="1">
            <a:spLocks noGrp="1"/>
          </p:cNvSpPr>
          <p:nvPr>
            <p:ph type="title"/>
          </p:nvPr>
        </p:nvSpPr>
        <p:spPr>
          <a:xfrm>
            <a:off x="260381" y="142840"/>
            <a:ext cx="10515600" cy="456600"/>
          </a:xfrm>
          <a:prstGeom prst="rect">
            <a:avLst/>
          </a:prstGeom>
          <a:noFill/>
          <a:ln>
            <a:noFill/>
          </a:ln>
        </p:spPr>
        <p:txBody>
          <a:bodyPr spcFirstLastPara="1" wrap="square" lIns="91425" tIns="45700" rIns="91425" bIns="45700" anchor="ctr" anchorCtr="0">
            <a:noAutofit/>
          </a:bodyPr>
          <a:lstStyle/>
          <a:p>
            <a:pPr lvl="0">
              <a:buClr>
                <a:srgbClr val="C00000"/>
              </a:buClr>
              <a:buSzPts val="3600"/>
            </a:pPr>
            <a:r>
              <a:rPr lang="en-IN" b="1" i="1" dirty="0">
                <a:solidFill>
                  <a:srgbClr val="C00000"/>
                </a:solidFill>
                <a:latin typeface="Times New Roman"/>
                <a:cs typeface="Times New Roman"/>
                <a:sym typeface="Times New Roman"/>
              </a:rPr>
              <a:t>Algorithms used and their purpose</a:t>
            </a:r>
            <a:endParaRPr lang="en-IN" sz="5400" dirty="0"/>
          </a:p>
        </p:txBody>
      </p:sp>
      <p:sp>
        <p:nvSpPr>
          <p:cNvPr id="2" name="Text Placeholder 2">
            <a:extLst>
              <a:ext uri="{FF2B5EF4-FFF2-40B4-BE49-F238E27FC236}">
                <a16:creationId xmlns:a16="http://schemas.microsoft.com/office/drawing/2014/main" id="{358697B7-FD53-667B-71AA-25EE5911F7E1}"/>
              </a:ext>
            </a:extLst>
          </p:cNvPr>
          <p:cNvSpPr txBox="1">
            <a:spLocks/>
          </p:cNvSpPr>
          <p:nvPr/>
        </p:nvSpPr>
        <p:spPr>
          <a:xfrm>
            <a:off x="7470138" y="599440"/>
            <a:ext cx="6319522" cy="511007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buFont typeface="Arial"/>
              <a:buNone/>
            </a:pPr>
            <a:r>
              <a:rPr lang="en-IN" sz="1300" b="1" dirty="0">
                <a:latin typeface="Times New Roman" panose="02020603050405020304" pitchFamily="18" charset="0"/>
                <a:cs typeface="Times New Roman" panose="02020603050405020304" pitchFamily="18" charset="0"/>
              </a:rPr>
              <a:t>2. Large Language Models (LLMs) – Chatbot Interaction</a:t>
            </a:r>
          </a:p>
          <a:p>
            <a:pPr marL="50800" indent="0">
              <a:buFont typeface="Arial"/>
              <a:buNone/>
            </a:pPr>
            <a:r>
              <a:rPr lang="en-IN" sz="1300" b="1" dirty="0">
                <a:latin typeface="Times New Roman" panose="02020603050405020304" pitchFamily="18" charset="0"/>
                <a:cs typeface="Times New Roman" panose="02020603050405020304" pitchFamily="18" charset="0"/>
              </a:rPr>
              <a:t>Algorithm Type:</a:t>
            </a:r>
            <a:endParaRPr lang="en-IN" sz="1300" dirty="0">
              <a:latin typeface="Times New Roman" panose="02020603050405020304" pitchFamily="18" charset="0"/>
              <a:cs typeface="Times New Roman" panose="02020603050405020304" pitchFamily="18" charset="0"/>
            </a:endParaRPr>
          </a:p>
          <a:p>
            <a:pPr marL="533400" lvl="1" indent="0">
              <a:buFont typeface="Arial"/>
              <a:buNone/>
            </a:pPr>
            <a:r>
              <a:rPr lang="en-IN" sz="1300" dirty="0">
                <a:latin typeface="Times New Roman" panose="02020603050405020304" pitchFamily="18" charset="0"/>
                <a:cs typeface="Times New Roman" panose="02020603050405020304" pitchFamily="18" charset="0"/>
              </a:rPr>
              <a:t>LLM-based conversational models</a:t>
            </a:r>
          </a:p>
          <a:p>
            <a:pPr marL="50800" indent="0">
              <a:buFont typeface="Arial"/>
              <a:buNone/>
            </a:pPr>
            <a:r>
              <a:rPr lang="en-IN" sz="1300" b="1" dirty="0">
                <a:latin typeface="Times New Roman" panose="02020603050405020304" pitchFamily="18" charset="0"/>
                <a:cs typeface="Times New Roman" panose="02020603050405020304" pitchFamily="18" charset="0"/>
              </a:rPr>
              <a:t>Purpose:</a:t>
            </a:r>
            <a:endParaRPr lang="en-IN" sz="1300" dirty="0">
              <a:latin typeface="Times New Roman" panose="02020603050405020304" pitchFamily="18" charset="0"/>
              <a:cs typeface="Times New Roman" panose="02020603050405020304" pitchFamily="18" charset="0"/>
            </a:endParaRPr>
          </a:p>
          <a:p>
            <a:pPr marL="533400" lvl="1" indent="0">
              <a:buFont typeface="Arial"/>
              <a:buNone/>
            </a:pPr>
            <a:r>
              <a:rPr lang="en-IN" sz="1300" dirty="0">
                <a:latin typeface="Times New Roman" panose="02020603050405020304" pitchFamily="18" charset="0"/>
                <a:cs typeface="Times New Roman" panose="02020603050405020304" pitchFamily="18" charset="0"/>
              </a:rPr>
              <a:t>Enable empathetic, human-like chatbot conversations</a:t>
            </a:r>
          </a:p>
          <a:p>
            <a:pPr marL="533400" lvl="1" indent="0">
              <a:buFont typeface="Arial"/>
              <a:buNone/>
            </a:pPr>
            <a:r>
              <a:rPr lang="en-IN" sz="1300" dirty="0">
                <a:latin typeface="Times New Roman" panose="02020603050405020304" pitchFamily="18" charset="0"/>
                <a:cs typeface="Times New Roman" panose="02020603050405020304" pitchFamily="18" charset="0"/>
              </a:rPr>
              <a:t>Ask guided questions and provide emotional support</a:t>
            </a:r>
          </a:p>
          <a:p>
            <a:pPr marL="50800" indent="0">
              <a:buFont typeface="Arial"/>
              <a:buNone/>
            </a:pPr>
            <a:r>
              <a:rPr lang="en-IN" sz="1300" b="1" dirty="0">
                <a:latin typeface="Times New Roman" panose="02020603050405020304" pitchFamily="18" charset="0"/>
                <a:cs typeface="Times New Roman" panose="02020603050405020304" pitchFamily="18" charset="0"/>
              </a:rPr>
              <a:t>Scenario:</a:t>
            </a:r>
            <a:endParaRPr lang="en-IN" sz="1300" dirty="0">
              <a:latin typeface="Times New Roman" panose="02020603050405020304" pitchFamily="18" charset="0"/>
              <a:cs typeface="Times New Roman" panose="02020603050405020304" pitchFamily="18" charset="0"/>
            </a:endParaRPr>
          </a:p>
          <a:p>
            <a:pPr marL="533400" lvl="1" indent="0">
              <a:buFont typeface="Arial"/>
              <a:buNone/>
            </a:pPr>
            <a:r>
              <a:rPr lang="en-IN" sz="1300" dirty="0">
                <a:latin typeface="Times New Roman" panose="02020603050405020304" pitchFamily="18" charset="0"/>
                <a:cs typeface="Times New Roman" panose="02020603050405020304" pitchFamily="18" charset="0"/>
              </a:rPr>
              <a:t>Daily emotional check-ins and motivational conversations</a:t>
            </a:r>
          </a:p>
          <a:p>
            <a:pPr marL="533400" lvl="1" indent="0">
              <a:buFont typeface="Arial"/>
              <a:buNone/>
            </a:pPr>
            <a:r>
              <a:rPr lang="en-IN" sz="1300" dirty="0">
                <a:latin typeface="Times New Roman" panose="02020603050405020304" pitchFamily="18" charset="0"/>
                <a:cs typeface="Times New Roman" panose="02020603050405020304" pitchFamily="18" charset="0"/>
              </a:rPr>
              <a:t>Encouraging journaling and self-reflection</a:t>
            </a:r>
          </a:p>
          <a:p>
            <a:pPr marL="533400" lvl="1" indent="0">
              <a:buFont typeface="Arial"/>
              <a:buNone/>
            </a:pPr>
            <a:endParaRPr lang="en-IN" sz="1300" dirty="0">
              <a:latin typeface="Times New Roman" panose="02020603050405020304" pitchFamily="18" charset="0"/>
              <a:cs typeface="Times New Roman" panose="02020603050405020304" pitchFamily="18" charset="0"/>
            </a:endParaRPr>
          </a:p>
          <a:p>
            <a:pPr marL="533400" lvl="1" indent="0">
              <a:buFont typeface="Arial"/>
              <a:buNone/>
            </a:pPr>
            <a:br>
              <a:rPr lang="en-IN" sz="1300" dirty="0">
                <a:latin typeface="Times New Roman" panose="02020603050405020304" pitchFamily="18" charset="0"/>
                <a:cs typeface="Times New Roman" panose="02020603050405020304" pitchFamily="18" charset="0"/>
              </a:rPr>
            </a:br>
            <a:endParaRPr lang="en-IN" sz="1300" dirty="0">
              <a:latin typeface="Times New Roman" panose="02020603050405020304" pitchFamily="18" charset="0"/>
              <a:cs typeface="Times New Roman" panose="02020603050405020304" pitchFamily="18" charset="0"/>
            </a:endParaRPr>
          </a:p>
          <a:p>
            <a:pPr marL="50800" indent="0">
              <a:buFont typeface="Arial"/>
              <a:buNone/>
            </a:pPr>
            <a:r>
              <a:rPr lang="en-IN" sz="1300" b="1" dirty="0">
                <a:latin typeface="Times New Roman" panose="02020603050405020304" pitchFamily="18" charset="0"/>
                <a:cs typeface="Times New Roman" panose="02020603050405020304" pitchFamily="18" charset="0"/>
              </a:rPr>
              <a:t>4. Machine Learning – Progress Tracking &amp; Reports</a:t>
            </a:r>
          </a:p>
          <a:p>
            <a:pPr marL="50800" indent="0">
              <a:buFont typeface="Arial"/>
              <a:buNone/>
            </a:pPr>
            <a:r>
              <a:rPr lang="en-IN" sz="1300" b="1" dirty="0">
                <a:latin typeface="Times New Roman" panose="02020603050405020304" pitchFamily="18" charset="0"/>
                <a:cs typeface="Times New Roman" panose="02020603050405020304" pitchFamily="18" charset="0"/>
              </a:rPr>
              <a:t>Algorithm Type:</a:t>
            </a:r>
            <a:endParaRPr lang="en-IN" sz="1300" dirty="0">
              <a:latin typeface="Times New Roman" panose="02020603050405020304" pitchFamily="18" charset="0"/>
              <a:cs typeface="Times New Roman" panose="02020603050405020304" pitchFamily="18" charset="0"/>
            </a:endParaRPr>
          </a:p>
          <a:p>
            <a:pPr marL="533400" lvl="1" indent="0">
              <a:buFont typeface="Arial"/>
              <a:buNone/>
            </a:pPr>
            <a:r>
              <a:rPr lang="en-IN" sz="1300" dirty="0">
                <a:latin typeface="Times New Roman" panose="02020603050405020304" pitchFamily="18" charset="0"/>
                <a:cs typeface="Times New Roman" panose="02020603050405020304" pitchFamily="18" charset="0"/>
              </a:rPr>
              <a:t>Supervised / Unsupervised ML (trend analysis, clustering)</a:t>
            </a:r>
          </a:p>
          <a:p>
            <a:pPr marL="50800" indent="0">
              <a:buFont typeface="Arial"/>
              <a:buNone/>
            </a:pPr>
            <a:r>
              <a:rPr lang="en-IN" sz="1300" b="1" dirty="0">
                <a:latin typeface="Times New Roman" panose="02020603050405020304" pitchFamily="18" charset="0"/>
                <a:cs typeface="Times New Roman" panose="02020603050405020304" pitchFamily="18" charset="0"/>
              </a:rPr>
              <a:t>Purpose:</a:t>
            </a:r>
            <a:endParaRPr lang="en-IN" sz="1300" dirty="0">
              <a:latin typeface="Times New Roman" panose="02020603050405020304" pitchFamily="18" charset="0"/>
              <a:cs typeface="Times New Roman" panose="02020603050405020304" pitchFamily="18" charset="0"/>
            </a:endParaRPr>
          </a:p>
          <a:p>
            <a:pPr marL="533400" lvl="1" indent="0">
              <a:buFont typeface="Arial"/>
              <a:buNone/>
            </a:pPr>
            <a:r>
              <a:rPr lang="en-IN" sz="1300" dirty="0">
                <a:latin typeface="Times New Roman" panose="02020603050405020304" pitchFamily="18" charset="0"/>
                <a:cs typeface="Times New Roman" panose="02020603050405020304" pitchFamily="18" charset="0"/>
              </a:rPr>
              <a:t>Track emotional changes over time</a:t>
            </a:r>
          </a:p>
          <a:p>
            <a:pPr marL="533400" lvl="1" indent="0">
              <a:buFont typeface="Arial"/>
              <a:buNone/>
            </a:pPr>
            <a:r>
              <a:rPr lang="en-IN" sz="1300" dirty="0">
                <a:latin typeface="Times New Roman" panose="02020603050405020304" pitchFamily="18" charset="0"/>
                <a:cs typeface="Times New Roman" panose="02020603050405020304" pitchFamily="18" charset="0"/>
              </a:rPr>
              <a:t>Generate progress summaries for doctors</a:t>
            </a:r>
          </a:p>
          <a:p>
            <a:pPr marL="50800" indent="0">
              <a:buFont typeface="Arial"/>
              <a:buNone/>
            </a:pPr>
            <a:r>
              <a:rPr lang="en-IN" sz="1300" b="1" dirty="0">
                <a:latin typeface="Times New Roman" panose="02020603050405020304" pitchFamily="18" charset="0"/>
                <a:cs typeface="Times New Roman" panose="02020603050405020304" pitchFamily="18" charset="0"/>
              </a:rPr>
              <a:t>Scenario:</a:t>
            </a:r>
            <a:endParaRPr lang="en-IN" sz="1300" dirty="0">
              <a:latin typeface="Times New Roman" panose="02020603050405020304" pitchFamily="18" charset="0"/>
              <a:cs typeface="Times New Roman" panose="02020603050405020304" pitchFamily="18" charset="0"/>
            </a:endParaRPr>
          </a:p>
          <a:p>
            <a:pPr marL="533400" lvl="1" indent="0">
              <a:buFont typeface="Arial"/>
              <a:buNone/>
            </a:pPr>
            <a:r>
              <a:rPr lang="en-IN" sz="1300" dirty="0">
                <a:latin typeface="Times New Roman" panose="02020603050405020304" pitchFamily="18" charset="0"/>
                <a:cs typeface="Times New Roman" panose="02020603050405020304" pitchFamily="18" charset="0"/>
              </a:rPr>
              <a:t>Pre- and post-therapy comparison and weekly reports</a:t>
            </a:r>
          </a:p>
          <a:p>
            <a:pPr marL="50800" indent="0">
              <a:buFont typeface="Arial"/>
              <a:buNone/>
            </a:pPr>
            <a:br>
              <a:rPr lang="en-IN" sz="1300" dirty="0">
                <a:latin typeface="Times New Roman" panose="02020603050405020304" pitchFamily="18" charset="0"/>
                <a:cs typeface="Times New Roman" panose="02020603050405020304" pitchFamily="18" charset="0"/>
              </a:rPr>
            </a:br>
            <a:endParaRPr lang="en-IN" sz="1300" dirty="0">
              <a:latin typeface="Times New Roman" panose="02020603050405020304" pitchFamily="18" charset="0"/>
              <a:cs typeface="Times New Roman" panose="02020603050405020304" pitchFamily="18" charset="0"/>
            </a:endParaRPr>
          </a:p>
          <a:p>
            <a:pPr marL="50800" indent="0">
              <a:buFont typeface="Arial"/>
              <a:buNone/>
            </a:pPr>
            <a:endParaRPr lang="en-US" sz="13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F2DDF21-104F-F24D-8E75-ADE55A98DEB3}"/>
              </a:ext>
            </a:extLst>
          </p:cNvPr>
          <p:cNvSpPr txBox="1"/>
          <p:nvPr/>
        </p:nvSpPr>
        <p:spPr>
          <a:xfrm>
            <a:off x="4406900" y="2369645"/>
            <a:ext cx="5097780" cy="1569660"/>
          </a:xfrm>
          <a:prstGeom prst="rect">
            <a:avLst/>
          </a:prstGeom>
          <a:noFill/>
        </p:spPr>
        <p:txBody>
          <a:bodyPr wrap="square">
            <a:spAutoFit/>
          </a:bodyPr>
          <a:lstStyle/>
          <a:p>
            <a:pPr marL="50800" indent="0">
              <a:buNone/>
            </a:pPr>
            <a:endParaRPr lang="en-IN" sz="1200" dirty="0">
              <a:latin typeface="Times New Roman" panose="02020603050405020304" pitchFamily="18" charset="0"/>
              <a:cs typeface="Times New Roman" panose="02020603050405020304" pitchFamily="18" charset="0"/>
            </a:endParaRPr>
          </a:p>
          <a:p>
            <a:pPr marL="50800" indent="0">
              <a:buNone/>
            </a:pPr>
            <a:r>
              <a:rPr lang="en-IN" sz="1200" b="1" dirty="0">
                <a:latin typeface="Times New Roman" panose="02020603050405020304" pitchFamily="18" charset="0"/>
                <a:cs typeface="Times New Roman" panose="02020603050405020304" pitchFamily="18" charset="0"/>
              </a:rPr>
              <a:t>Advanced Aspects Considered</a:t>
            </a:r>
          </a:p>
          <a:p>
            <a:pPr marL="50800" indent="0">
              <a:buNone/>
            </a:pPr>
            <a:r>
              <a:rPr lang="en-IN" sz="1200" b="1" dirty="0">
                <a:latin typeface="Times New Roman" panose="02020603050405020304" pitchFamily="18" charset="0"/>
                <a:cs typeface="Times New Roman" panose="02020603050405020304" pitchFamily="18" charset="0"/>
              </a:rPr>
              <a:t>Deep Learning (DL):</a:t>
            </a:r>
            <a:endParaRPr lang="en-IN" sz="1200" dirty="0">
              <a:latin typeface="Times New Roman" panose="02020603050405020304" pitchFamily="18" charset="0"/>
              <a:cs typeface="Times New Roman" panose="02020603050405020304" pitchFamily="18" charset="0"/>
            </a:endParaRPr>
          </a:p>
          <a:p>
            <a:pPr marL="533400" lvl="1" indent="0">
              <a:buNone/>
            </a:pPr>
            <a:r>
              <a:rPr lang="en-IN" sz="1200" dirty="0">
                <a:latin typeface="Times New Roman" panose="02020603050405020304" pitchFamily="18" charset="0"/>
                <a:cs typeface="Times New Roman" panose="02020603050405020304" pitchFamily="18" charset="0"/>
              </a:rPr>
              <a:t>Used for emotion detection and text </a:t>
            </a:r>
          </a:p>
          <a:p>
            <a:pPr marL="533400" lvl="1" indent="0">
              <a:buNone/>
            </a:pPr>
            <a:r>
              <a:rPr lang="en-IN" sz="1200" dirty="0">
                <a:latin typeface="Times New Roman" panose="02020603050405020304" pitchFamily="18" charset="0"/>
                <a:cs typeface="Times New Roman" panose="02020603050405020304" pitchFamily="18" charset="0"/>
              </a:rPr>
              <a:t>understanding</a:t>
            </a:r>
          </a:p>
          <a:p>
            <a:pPr marL="50800" indent="0">
              <a:buNone/>
            </a:pPr>
            <a:r>
              <a:rPr lang="en-IN" sz="1200" b="1" dirty="0">
                <a:latin typeface="Times New Roman" panose="02020603050405020304" pitchFamily="18" charset="0"/>
                <a:cs typeface="Times New Roman" panose="02020603050405020304" pitchFamily="18" charset="0"/>
              </a:rPr>
              <a:t>Large Language Models (LLMs):</a:t>
            </a:r>
            <a:endParaRPr lang="en-IN" sz="1200" dirty="0">
              <a:latin typeface="Times New Roman" panose="02020603050405020304" pitchFamily="18" charset="0"/>
              <a:cs typeface="Times New Roman" panose="02020603050405020304" pitchFamily="18" charset="0"/>
            </a:endParaRPr>
          </a:p>
          <a:p>
            <a:pPr marL="533400" lvl="1" indent="0">
              <a:buNone/>
            </a:pPr>
            <a:r>
              <a:rPr lang="en-IN" sz="1200" dirty="0">
                <a:latin typeface="Times New Roman" panose="02020603050405020304" pitchFamily="18" charset="0"/>
                <a:cs typeface="Times New Roman" panose="02020603050405020304" pitchFamily="18" charset="0"/>
              </a:rPr>
              <a:t>Used for chatbot interaction and contextual</a:t>
            </a:r>
          </a:p>
          <a:p>
            <a:pPr marL="533400" lvl="1" indent="0">
              <a:buNone/>
            </a:pPr>
            <a:r>
              <a:rPr lang="en-IN" sz="1200" dirty="0">
                <a:latin typeface="Times New Roman" panose="02020603050405020304" pitchFamily="18" charset="0"/>
                <a:cs typeface="Times New Roman" panose="02020603050405020304" pitchFamily="18" charset="0"/>
              </a:rPr>
              <a:t> understanding</a:t>
            </a:r>
          </a:p>
        </p:txBody>
      </p:sp>
    </p:spTree>
    <p:extLst>
      <p:ext uri="{BB962C8B-B14F-4D97-AF65-F5344CB8AC3E}">
        <p14:creationId xmlns:p14="http://schemas.microsoft.com/office/powerpoint/2010/main" val="2844722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EA252-84C6-D493-C704-2316DE2334F7}"/>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2B54B4FD-9037-600B-9199-40D399BBE787}"/>
              </a:ext>
            </a:extLst>
          </p:cNvPr>
          <p:cNvSpPr txBox="1">
            <a:spLocks noGrp="1"/>
          </p:cNvSpPr>
          <p:nvPr>
            <p:ph type="title"/>
          </p:nvPr>
        </p:nvSpPr>
        <p:spPr>
          <a:xfrm>
            <a:off x="575341" y="355284"/>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Data Building</a:t>
            </a:r>
            <a:endParaRPr lang="en-IN" sz="5400" dirty="0"/>
          </a:p>
        </p:txBody>
      </p:sp>
      <p:graphicFrame>
        <p:nvGraphicFramePr>
          <p:cNvPr id="6" name="Table 5">
            <a:extLst>
              <a:ext uri="{FF2B5EF4-FFF2-40B4-BE49-F238E27FC236}">
                <a16:creationId xmlns:a16="http://schemas.microsoft.com/office/drawing/2014/main" id="{CBBCB9C5-574B-104B-5D13-E3510FFF2D44}"/>
              </a:ext>
            </a:extLst>
          </p:cNvPr>
          <p:cNvGraphicFramePr>
            <a:graphicFrameLocks noGrp="1"/>
          </p:cNvGraphicFramePr>
          <p:nvPr>
            <p:extLst>
              <p:ext uri="{D42A27DB-BD31-4B8C-83A1-F6EECF244321}">
                <p14:modId xmlns:p14="http://schemas.microsoft.com/office/powerpoint/2010/main" val="2697546405"/>
              </p:ext>
            </p:extLst>
          </p:nvPr>
        </p:nvGraphicFramePr>
        <p:xfrm>
          <a:off x="685800" y="1112520"/>
          <a:ext cx="10515600" cy="4632960"/>
        </p:xfrm>
        <a:graphic>
          <a:graphicData uri="http://schemas.openxmlformats.org/drawingml/2006/table">
            <a:tbl>
              <a:tblPr/>
              <a:tblGrid>
                <a:gridCol w="2628900">
                  <a:extLst>
                    <a:ext uri="{9D8B030D-6E8A-4147-A177-3AD203B41FA5}">
                      <a16:colId xmlns:a16="http://schemas.microsoft.com/office/drawing/2014/main" val="3348081592"/>
                    </a:ext>
                  </a:extLst>
                </a:gridCol>
                <a:gridCol w="2628900">
                  <a:extLst>
                    <a:ext uri="{9D8B030D-6E8A-4147-A177-3AD203B41FA5}">
                      <a16:colId xmlns:a16="http://schemas.microsoft.com/office/drawing/2014/main" val="1866814061"/>
                    </a:ext>
                  </a:extLst>
                </a:gridCol>
                <a:gridCol w="2628900">
                  <a:extLst>
                    <a:ext uri="{9D8B030D-6E8A-4147-A177-3AD203B41FA5}">
                      <a16:colId xmlns:a16="http://schemas.microsoft.com/office/drawing/2014/main" val="1774544856"/>
                    </a:ext>
                  </a:extLst>
                </a:gridCol>
                <a:gridCol w="2628900">
                  <a:extLst>
                    <a:ext uri="{9D8B030D-6E8A-4147-A177-3AD203B41FA5}">
                      <a16:colId xmlns:a16="http://schemas.microsoft.com/office/drawing/2014/main" val="4119437119"/>
                    </a:ext>
                  </a:extLst>
                </a:gridCol>
              </a:tblGrid>
              <a:tr h="0">
                <a:tc>
                  <a:txBody>
                    <a:bodyPr/>
                    <a:lstStyle/>
                    <a:p>
                      <a:pPr>
                        <a:buNone/>
                      </a:pPr>
                      <a:r>
                        <a:rPr lang="en-IN" sz="2000" b="1" dirty="0">
                          <a:latin typeface="Times New Roman" panose="02020603050405020304" pitchFamily="18" charset="0"/>
                          <a:cs typeface="Times New Roman" panose="02020603050405020304" pitchFamily="18" charset="0"/>
                        </a:rPr>
                        <a:t>Dataset Name</a:t>
                      </a:r>
                      <a:endParaRPr lang="en-IN" sz="20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2000" b="1">
                          <a:latin typeface="Times New Roman" panose="02020603050405020304" pitchFamily="18" charset="0"/>
                          <a:cs typeface="Times New Roman" panose="02020603050405020304" pitchFamily="18" charset="0"/>
                        </a:rPr>
                        <a:t>Purpose</a:t>
                      </a:r>
                      <a:endParaRPr lang="en-IN" sz="20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2000" b="1">
                          <a:latin typeface="Times New Roman" panose="02020603050405020304" pitchFamily="18" charset="0"/>
                          <a:cs typeface="Times New Roman" panose="02020603050405020304" pitchFamily="18" charset="0"/>
                        </a:rPr>
                        <a:t>Usage in TENAWell</a:t>
                      </a:r>
                      <a:endParaRPr lang="en-IN" sz="20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2000" b="1">
                          <a:latin typeface="Times New Roman" panose="02020603050405020304" pitchFamily="18" charset="0"/>
                          <a:cs typeface="Times New Roman" panose="02020603050405020304" pitchFamily="18" charset="0"/>
                        </a:rPr>
                        <a:t>Dataset Link</a:t>
                      </a:r>
                      <a:endParaRPr lang="en-IN" sz="20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333015279"/>
                  </a:ext>
                </a:extLst>
              </a:tr>
              <a:tr h="0">
                <a:tc>
                  <a:txBody>
                    <a:bodyPr/>
                    <a:lstStyle/>
                    <a:p>
                      <a:pPr>
                        <a:buNone/>
                      </a:pPr>
                      <a:r>
                        <a:rPr lang="en-US" sz="2000" b="1" dirty="0">
                          <a:latin typeface="Times New Roman" panose="02020603050405020304" pitchFamily="18" charset="0"/>
                          <a:cs typeface="Times New Roman" panose="02020603050405020304" pitchFamily="18" charset="0"/>
                        </a:rPr>
                        <a:t>Mental Health Sentiment Dataset (Depression &amp; Anxiety)</a:t>
                      </a:r>
                      <a:endParaRPr lang="en-US" sz="20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000" dirty="0">
                          <a:latin typeface="Times New Roman" panose="02020603050405020304" pitchFamily="18" charset="0"/>
                          <a:cs typeface="Times New Roman" panose="02020603050405020304" pitchFamily="18" charset="0"/>
                        </a:rPr>
                        <a:t>Detect depression, anxiety, and emotional polarity</a:t>
                      </a: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Emotion analysis from journals and chatbot conversations</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hlinkClick r:id="rId2"/>
                        </a:rPr>
                        <a:t>https://www.kaggle.com/datasets/suchintikasarkar/sentiment-analysis-for-mental-health/data</a:t>
                      </a:r>
                      <a:endParaRPr lang="en-IN" sz="20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3857355166"/>
                  </a:ext>
                </a:extLst>
              </a:tr>
              <a:tr h="0">
                <a:tc>
                  <a:txBody>
                    <a:bodyPr/>
                    <a:lstStyle/>
                    <a:p>
                      <a:pPr>
                        <a:buNone/>
                      </a:pPr>
                      <a:r>
                        <a:rPr lang="en-IN" sz="2000" b="1">
                          <a:latin typeface="Times New Roman" panose="02020603050405020304" pitchFamily="18" charset="0"/>
                          <a:cs typeface="Times New Roman" panose="02020603050405020304" pitchFamily="18" charset="0"/>
                        </a:rPr>
                        <a:t>Suicide Sentiment Analysis Dataset</a:t>
                      </a:r>
                      <a:endParaRPr lang="en-IN" sz="20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000" dirty="0">
                          <a:latin typeface="Times New Roman" panose="02020603050405020304" pitchFamily="18" charset="0"/>
                          <a:cs typeface="Times New Roman" panose="02020603050405020304" pitchFamily="18" charset="0"/>
                        </a:rPr>
                        <a:t>Identify suicidal ideation and self-harm indicators</a:t>
                      </a: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Safety and alert mechanism for high-risk content</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hlinkClick r:id="rId3"/>
                        </a:rPr>
                        <a:t>https://www.kaggle.com/datasets/umar1103/suicide-sentiment-analysis-dataset</a:t>
                      </a:r>
                      <a:endParaRPr lang="en-IN" sz="20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3250986109"/>
                  </a:ext>
                </a:extLst>
              </a:tr>
              <a:tr h="0">
                <a:tc>
                  <a:txBody>
                    <a:bodyPr/>
                    <a:lstStyle/>
                    <a:p>
                      <a:pPr>
                        <a:buNone/>
                      </a:pPr>
                      <a:r>
                        <a:rPr lang="en-US" sz="2000" b="1">
                          <a:latin typeface="Times New Roman" panose="02020603050405020304" pitchFamily="18" charset="0"/>
                          <a:cs typeface="Times New Roman" panose="02020603050405020304" pitchFamily="18" charset="0"/>
                        </a:rPr>
                        <a:t>Mental Health Counseling Conversations Dataset</a:t>
                      </a:r>
                      <a:endParaRPr lang="en-US" sz="20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Real counseling conversation data</a:t>
                      </a: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Fine-tuning LLM-based chatbot for empathetic responses</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hlinkClick r:id="rId4"/>
                        </a:rPr>
                        <a:t>https://huggingface.co/datasets/Amod/mental_health_counseling_conversations</a:t>
                      </a:r>
                      <a:endParaRPr lang="en-IN" sz="20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1850921044"/>
                  </a:ext>
                </a:extLst>
              </a:tr>
            </a:tbl>
          </a:graphicData>
        </a:graphic>
      </p:graphicFrame>
    </p:spTree>
    <p:extLst>
      <p:ext uri="{BB962C8B-B14F-4D97-AF65-F5344CB8AC3E}">
        <p14:creationId xmlns:p14="http://schemas.microsoft.com/office/powerpoint/2010/main" val="168930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85807-7D22-511D-3317-0EBCB82E3646}"/>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BD602769-132A-7797-C28D-091C291136D4}"/>
              </a:ext>
            </a:extLst>
          </p:cNvPr>
          <p:cNvSpPr txBox="1">
            <a:spLocks noGrp="1"/>
          </p:cNvSpPr>
          <p:nvPr>
            <p:ph type="title"/>
          </p:nvPr>
        </p:nvSpPr>
        <p:spPr>
          <a:xfrm>
            <a:off x="182881" y="264981"/>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Hackathon Pitching on this product</a:t>
            </a:r>
            <a:endParaRPr lang="en-IN" sz="5400" dirty="0"/>
          </a:p>
        </p:txBody>
      </p:sp>
      <p:sp>
        <p:nvSpPr>
          <p:cNvPr id="9" name="Rectangle 6">
            <a:extLst>
              <a:ext uri="{FF2B5EF4-FFF2-40B4-BE49-F238E27FC236}">
                <a16:creationId xmlns:a16="http://schemas.microsoft.com/office/drawing/2014/main" id="{B154AF24-AC99-B123-5558-0D60F71986DF}"/>
              </a:ext>
            </a:extLst>
          </p:cNvPr>
          <p:cNvSpPr>
            <a:spLocks noGrp="1" noChangeArrowheads="1"/>
          </p:cNvSpPr>
          <p:nvPr>
            <p:ph type="body" idx="1"/>
          </p:nvPr>
        </p:nvSpPr>
        <p:spPr bwMode="auto">
          <a:xfrm>
            <a:off x="182881" y="829556"/>
            <a:ext cx="1164336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Current Status:</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as an inspiration and validation source for problem understanding and solution direction.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3DA8C051-4319-656C-BAF9-8ED79CE1B713}"/>
              </a:ext>
            </a:extLst>
          </p:cNvPr>
          <p:cNvSpPr>
            <a:spLocks noChangeArrowheads="1"/>
          </p:cNvSpPr>
          <p:nvPr/>
        </p:nvSpPr>
        <p:spPr bwMode="auto">
          <a:xfrm>
            <a:off x="182881" y="1752971"/>
            <a:ext cx="877035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Hackathon Readiness: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TENAWell can be taken to a hackathon as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problem-driven solution idea</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Nature of Submission: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Proposed as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conceptual solution with a working prototype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 a fully deployed product.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Why Hackathon-Suitable: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Addresses a real-world social problem (mental health access)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Strong scope for AI-based innovation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Clear user workflow and modular architecture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Ethical and privacy-focused approach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Expected Outcome: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Validate the idea through expert and peer feedback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design, AI models, and user experience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potential collaborators and mentors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0073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E606F-A699-A9BD-E45B-99E18641608C}"/>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61DF6DF2-DCF7-C5BC-CF84-ABEEE9DBFDF0}"/>
              </a:ext>
            </a:extLst>
          </p:cNvPr>
          <p:cNvSpPr txBox="1">
            <a:spLocks noGrp="1"/>
          </p:cNvSpPr>
          <p:nvPr>
            <p:ph type="title"/>
          </p:nvPr>
        </p:nvSpPr>
        <p:spPr>
          <a:xfrm>
            <a:off x="182881" y="264981"/>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Companies working on similar problem</a:t>
            </a:r>
            <a:endParaRPr lang="en-IN" sz="5400" dirty="0"/>
          </a:p>
        </p:txBody>
      </p:sp>
      <p:graphicFrame>
        <p:nvGraphicFramePr>
          <p:cNvPr id="2" name="Table 1">
            <a:extLst>
              <a:ext uri="{FF2B5EF4-FFF2-40B4-BE49-F238E27FC236}">
                <a16:creationId xmlns:a16="http://schemas.microsoft.com/office/drawing/2014/main" id="{2E0C3FB5-478D-8650-76CA-F74D1EF5D16F}"/>
              </a:ext>
            </a:extLst>
          </p:cNvPr>
          <p:cNvGraphicFramePr>
            <a:graphicFrameLocks noGrp="1"/>
          </p:cNvGraphicFramePr>
          <p:nvPr>
            <p:extLst>
              <p:ext uri="{D42A27DB-BD31-4B8C-83A1-F6EECF244321}">
                <p14:modId xmlns:p14="http://schemas.microsoft.com/office/powerpoint/2010/main" val="3562592014"/>
              </p:ext>
            </p:extLst>
          </p:nvPr>
        </p:nvGraphicFramePr>
        <p:xfrm>
          <a:off x="182881" y="1197234"/>
          <a:ext cx="11521439" cy="4463532"/>
        </p:xfrm>
        <a:graphic>
          <a:graphicData uri="http://schemas.openxmlformats.org/drawingml/2006/table">
            <a:tbl>
              <a:tblPr firstRow="1" bandRow="1">
                <a:tableStyleId>{B229F12B-DD2F-434A-8BDD-88915C9BCD54}</a:tableStyleId>
              </a:tblPr>
              <a:tblGrid>
                <a:gridCol w="3325077">
                  <a:extLst>
                    <a:ext uri="{9D8B030D-6E8A-4147-A177-3AD203B41FA5}">
                      <a16:colId xmlns:a16="http://schemas.microsoft.com/office/drawing/2014/main" val="1250080454"/>
                    </a:ext>
                  </a:extLst>
                </a:gridCol>
                <a:gridCol w="4098181">
                  <a:extLst>
                    <a:ext uri="{9D8B030D-6E8A-4147-A177-3AD203B41FA5}">
                      <a16:colId xmlns:a16="http://schemas.microsoft.com/office/drawing/2014/main" val="426743289"/>
                    </a:ext>
                  </a:extLst>
                </a:gridCol>
                <a:gridCol w="4098181">
                  <a:extLst>
                    <a:ext uri="{9D8B030D-6E8A-4147-A177-3AD203B41FA5}">
                      <a16:colId xmlns:a16="http://schemas.microsoft.com/office/drawing/2014/main" val="1462208224"/>
                    </a:ext>
                  </a:extLst>
                </a:gridCol>
              </a:tblGrid>
              <a:tr h="764686">
                <a:tc>
                  <a:txBody>
                    <a:bodyPr/>
                    <a:lstStyle/>
                    <a:p>
                      <a:pPr algn="ctr"/>
                      <a:r>
                        <a:rPr lang="en-IN" sz="2400" b="1" dirty="0">
                          <a:latin typeface="Times New Roman" panose="02020603050405020304" pitchFamily="18" charset="0"/>
                          <a:cs typeface="Times New Roman" panose="02020603050405020304" pitchFamily="18" charset="0"/>
                        </a:rPr>
                        <a:t>Company Name </a:t>
                      </a:r>
                    </a:p>
                  </a:txBody>
                  <a:tcPr>
                    <a:solidFill>
                      <a:srgbClr val="B6114D">
                        <a:alpha val="0"/>
                      </a:srgbClr>
                    </a:solidFill>
                  </a:tcPr>
                </a:tc>
                <a:tc>
                  <a:txBody>
                    <a:bodyPr/>
                    <a:lstStyle/>
                    <a:p>
                      <a:pPr algn="ctr"/>
                      <a:r>
                        <a:rPr lang="en-IN" sz="2400" b="1" dirty="0">
                          <a:latin typeface="Times New Roman" panose="02020603050405020304" pitchFamily="18" charset="0"/>
                          <a:cs typeface="Times New Roman" panose="02020603050405020304" pitchFamily="18" charset="0"/>
                        </a:rPr>
                        <a:t>Location</a:t>
                      </a:r>
                    </a:p>
                    <a:p>
                      <a:pPr algn="ctr"/>
                      <a:endParaRPr lang="en-IN" sz="2400" b="1" dirty="0">
                        <a:latin typeface="Times New Roman" panose="02020603050405020304" pitchFamily="18" charset="0"/>
                        <a:cs typeface="Times New Roman" panose="02020603050405020304" pitchFamily="18" charset="0"/>
                      </a:endParaRPr>
                    </a:p>
                  </a:txBody>
                  <a:tcPr>
                    <a:solidFill>
                      <a:srgbClr val="B6114D">
                        <a:alpha val="0"/>
                      </a:srgbClr>
                    </a:solidFill>
                  </a:tcPr>
                </a:tc>
                <a:tc>
                  <a:txBody>
                    <a:bodyPr/>
                    <a:lstStyle/>
                    <a:p>
                      <a:pPr algn="ctr"/>
                      <a:r>
                        <a:rPr lang="en-IN" sz="2400" b="1" dirty="0">
                          <a:latin typeface="Times New Roman" panose="02020603050405020304" pitchFamily="18" charset="0"/>
                          <a:cs typeface="Times New Roman" panose="02020603050405020304" pitchFamily="18" charset="0"/>
                        </a:rPr>
                        <a:t>URL</a:t>
                      </a:r>
                    </a:p>
                  </a:txBody>
                  <a:tcPr>
                    <a:solidFill>
                      <a:srgbClr val="B6114D">
                        <a:alpha val="0"/>
                      </a:srgbClr>
                    </a:solidFill>
                  </a:tcPr>
                </a:tc>
                <a:extLst>
                  <a:ext uri="{0D108BD9-81ED-4DB2-BD59-A6C34878D82A}">
                    <a16:rowId xmlns:a16="http://schemas.microsoft.com/office/drawing/2014/main" val="1083485926"/>
                  </a:ext>
                </a:extLst>
              </a:tr>
              <a:tr h="404508">
                <a:tc>
                  <a:txBody>
                    <a:bodyPr/>
                    <a:lstStyle/>
                    <a:p>
                      <a:pPr>
                        <a:buNone/>
                      </a:pPr>
                      <a:r>
                        <a:rPr lang="en-IN" sz="1600" b="1" dirty="0">
                          <a:latin typeface="Times New Roman" panose="02020603050405020304" pitchFamily="18" charset="0"/>
                          <a:cs typeface="Times New Roman" panose="02020603050405020304" pitchFamily="18" charset="0"/>
                        </a:rPr>
                        <a:t>Emy (Emotional Support App)</a:t>
                      </a:r>
                    </a:p>
                  </a:txBody>
                  <a:tcPr anchor="ctr">
                    <a:solidFill>
                      <a:srgbClr val="B6114D">
                        <a:alpha val="0"/>
                      </a:srgbClr>
                    </a:solidFill>
                  </a:tcPr>
                </a:tc>
                <a:tc>
                  <a:txBody>
                    <a:bodyPr/>
                    <a:lstStyle/>
                    <a:p>
                      <a:pPr algn="ctr"/>
                      <a:r>
                        <a:rPr lang="en-IN" sz="1600" dirty="0">
                          <a:latin typeface="Times New Roman" panose="02020603050405020304" pitchFamily="18" charset="0"/>
                          <a:cs typeface="Times New Roman" panose="02020603050405020304" pitchFamily="18" charset="0"/>
                        </a:rPr>
                        <a:t>Europe</a:t>
                      </a:r>
                    </a:p>
                  </a:txBody>
                  <a:tcP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https://emy.chat</a:t>
                      </a:r>
                    </a:p>
                  </a:txBody>
                  <a:tcPr>
                    <a:solidFill>
                      <a:srgbClr val="B6114D">
                        <a:alpha val="0"/>
                      </a:srgbClr>
                    </a:solidFill>
                  </a:tcPr>
                </a:tc>
                <a:extLst>
                  <a:ext uri="{0D108BD9-81ED-4DB2-BD59-A6C34878D82A}">
                    <a16:rowId xmlns:a16="http://schemas.microsoft.com/office/drawing/2014/main" val="2193611300"/>
                  </a:ext>
                </a:extLst>
              </a:tr>
              <a:tr h="404508">
                <a:tc>
                  <a:txBody>
                    <a:bodyPr/>
                    <a:lstStyle/>
                    <a:p>
                      <a:r>
                        <a:rPr lang="en-IN" sz="1600" b="1" dirty="0" err="1">
                          <a:latin typeface="Times New Roman" panose="02020603050405020304" pitchFamily="18" charset="0"/>
                          <a:cs typeface="Times New Roman" panose="02020603050405020304" pitchFamily="18" charset="0"/>
                        </a:rPr>
                        <a:t>MindDoc</a:t>
                      </a:r>
                      <a:endParaRPr lang="en-IN" sz="1600" b="1" dirty="0">
                        <a:latin typeface="Times New Roman" panose="02020603050405020304" pitchFamily="18" charset="0"/>
                        <a:cs typeface="Times New Roman" panose="02020603050405020304" pitchFamily="18" charset="0"/>
                      </a:endParaRPr>
                    </a:p>
                  </a:txBody>
                  <a:tcPr>
                    <a:solidFill>
                      <a:srgbClr val="B6114D">
                        <a:alpha val="0"/>
                      </a:srgbClr>
                    </a:solidFill>
                  </a:tcPr>
                </a:tc>
                <a:tc>
                  <a:txBody>
                    <a:bodyPr/>
                    <a:lstStyle/>
                    <a:p>
                      <a:pPr algn="ctr"/>
                      <a:r>
                        <a:rPr lang="en-IN" sz="1600" dirty="0">
                          <a:latin typeface="Times New Roman" panose="02020603050405020304" pitchFamily="18" charset="0"/>
                          <a:cs typeface="Times New Roman" panose="02020603050405020304" pitchFamily="18" charset="0"/>
                        </a:rPr>
                        <a:t>Germany</a:t>
                      </a:r>
                    </a:p>
                  </a:txBody>
                  <a:tcP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https://minddoc.com/</a:t>
                      </a:r>
                    </a:p>
                  </a:txBody>
                  <a:tcPr>
                    <a:solidFill>
                      <a:srgbClr val="B6114D">
                        <a:alpha val="0"/>
                      </a:srgbClr>
                    </a:solidFill>
                  </a:tcPr>
                </a:tc>
                <a:extLst>
                  <a:ext uri="{0D108BD9-81ED-4DB2-BD59-A6C34878D82A}">
                    <a16:rowId xmlns:a16="http://schemas.microsoft.com/office/drawing/2014/main" val="10768018"/>
                  </a:ext>
                </a:extLst>
              </a:tr>
              <a:tr h="404508">
                <a:tc>
                  <a:txBody>
                    <a:bodyPr/>
                    <a:lstStyle/>
                    <a:p>
                      <a:r>
                        <a:rPr lang="en-IN" sz="1600" b="1" dirty="0">
                          <a:latin typeface="Times New Roman" panose="02020603050405020304" pitchFamily="18" charset="0"/>
                          <a:cs typeface="Times New Roman" panose="02020603050405020304" pitchFamily="18" charset="0"/>
                        </a:rPr>
                        <a:t>Amaha</a:t>
                      </a:r>
                    </a:p>
                  </a:txBody>
                  <a:tcPr>
                    <a:solidFill>
                      <a:srgbClr val="B6114D">
                        <a:alpha val="0"/>
                      </a:srgbClr>
                    </a:solidFill>
                  </a:tcPr>
                </a:tc>
                <a:tc>
                  <a:txBody>
                    <a:bodyPr/>
                    <a:lstStyle/>
                    <a:p>
                      <a:pPr algn="ctr"/>
                      <a:r>
                        <a:rPr lang="en-IN" sz="1600" dirty="0">
                          <a:latin typeface="Times New Roman" panose="02020603050405020304" pitchFamily="18" charset="0"/>
                          <a:cs typeface="Times New Roman" panose="02020603050405020304" pitchFamily="18" charset="0"/>
                        </a:rPr>
                        <a:t>India</a:t>
                      </a:r>
                    </a:p>
                  </a:txBody>
                  <a:tcP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https://www.amahahealth.com/</a:t>
                      </a:r>
                    </a:p>
                  </a:txBody>
                  <a:tcPr>
                    <a:solidFill>
                      <a:srgbClr val="B6114D">
                        <a:alpha val="0"/>
                      </a:srgbClr>
                    </a:solidFill>
                  </a:tcPr>
                </a:tc>
                <a:extLst>
                  <a:ext uri="{0D108BD9-81ED-4DB2-BD59-A6C34878D82A}">
                    <a16:rowId xmlns:a16="http://schemas.microsoft.com/office/drawing/2014/main" val="366560856"/>
                  </a:ext>
                </a:extLst>
              </a:tr>
              <a:tr h="404508">
                <a:tc>
                  <a:txBody>
                    <a:bodyPr/>
                    <a:lstStyle/>
                    <a:p>
                      <a:r>
                        <a:rPr lang="en-IN" sz="1600" b="1" dirty="0" err="1">
                          <a:latin typeface="Times New Roman" panose="02020603050405020304" pitchFamily="18" charset="0"/>
                          <a:cs typeface="Times New Roman" panose="02020603050405020304" pitchFamily="18" charset="0"/>
                        </a:rPr>
                        <a:t>Woebot</a:t>
                      </a:r>
                      <a:r>
                        <a:rPr lang="en-IN" sz="1600" b="1" dirty="0">
                          <a:latin typeface="Times New Roman" panose="02020603050405020304" pitchFamily="18" charset="0"/>
                          <a:cs typeface="Times New Roman" panose="02020603050405020304" pitchFamily="18" charset="0"/>
                        </a:rPr>
                        <a:t> Health</a:t>
                      </a:r>
                    </a:p>
                  </a:txBody>
                  <a:tcPr>
                    <a:solidFill>
                      <a:srgbClr val="B6114D">
                        <a:alpha val="0"/>
                      </a:srgbClr>
                    </a:solidFill>
                  </a:tcPr>
                </a:tc>
                <a:tc>
                  <a:txBody>
                    <a:bodyPr/>
                    <a:lstStyle/>
                    <a:p>
                      <a:pPr algn="ctr"/>
                      <a:r>
                        <a:rPr lang="en-IN" sz="1600" dirty="0">
                          <a:latin typeface="Times New Roman" panose="02020603050405020304" pitchFamily="18" charset="0"/>
                          <a:cs typeface="Times New Roman" panose="02020603050405020304" pitchFamily="18" charset="0"/>
                        </a:rPr>
                        <a:t>USA</a:t>
                      </a:r>
                    </a:p>
                  </a:txBody>
                  <a:tcP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https://woebothealth.com/</a:t>
                      </a:r>
                    </a:p>
                  </a:txBody>
                  <a:tcPr>
                    <a:solidFill>
                      <a:srgbClr val="B6114D">
                        <a:alpha val="0"/>
                      </a:srgbClr>
                    </a:solidFill>
                  </a:tcPr>
                </a:tc>
                <a:extLst>
                  <a:ext uri="{0D108BD9-81ED-4DB2-BD59-A6C34878D82A}">
                    <a16:rowId xmlns:a16="http://schemas.microsoft.com/office/drawing/2014/main" val="3383436331"/>
                  </a:ext>
                </a:extLst>
              </a:tr>
              <a:tr h="404508">
                <a:tc>
                  <a:txBody>
                    <a:bodyPr/>
                    <a:lstStyle/>
                    <a:p>
                      <a:r>
                        <a:rPr lang="en-IN" sz="1600" b="1" dirty="0">
                          <a:latin typeface="Times New Roman" panose="02020603050405020304" pitchFamily="18" charset="0"/>
                          <a:cs typeface="Times New Roman" panose="02020603050405020304" pitchFamily="18" charset="0"/>
                        </a:rPr>
                        <a:t>Headspace</a:t>
                      </a:r>
                    </a:p>
                  </a:txBody>
                  <a:tcPr>
                    <a:solidFill>
                      <a:srgbClr val="B6114D">
                        <a:alpha val="0"/>
                      </a:srgbClr>
                    </a:solidFill>
                  </a:tcPr>
                </a:tc>
                <a:tc>
                  <a:txBody>
                    <a:bodyPr/>
                    <a:lstStyle/>
                    <a:p>
                      <a:pPr algn="ctr"/>
                      <a:r>
                        <a:rPr lang="en-IN" sz="1600" dirty="0">
                          <a:latin typeface="Times New Roman" panose="02020603050405020304" pitchFamily="18" charset="0"/>
                          <a:cs typeface="Times New Roman" panose="02020603050405020304" pitchFamily="18" charset="0"/>
                        </a:rPr>
                        <a:t>USA</a:t>
                      </a:r>
                    </a:p>
                  </a:txBody>
                  <a:tcP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https://www.headspace.com/</a:t>
                      </a:r>
                    </a:p>
                  </a:txBody>
                  <a:tcPr>
                    <a:solidFill>
                      <a:srgbClr val="B6114D">
                        <a:alpha val="0"/>
                      </a:srgbClr>
                    </a:solidFill>
                  </a:tcPr>
                </a:tc>
                <a:extLst>
                  <a:ext uri="{0D108BD9-81ED-4DB2-BD59-A6C34878D82A}">
                    <a16:rowId xmlns:a16="http://schemas.microsoft.com/office/drawing/2014/main" val="2449703215"/>
                  </a:ext>
                </a:extLst>
              </a:tr>
              <a:tr h="404508">
                <a:tc>
                  <a:txBody>
                    <a:bodyPr/>
                    <a:lstStyle/>
                    <a:p>
                      <a:r>
                        <a:rPr lang="en-IN" sz="1600" b="1" dirty="0">
                          <a:latin typeface="Times New Roman" panose="02020603050405020304" pitchFamily="18" charset="0"/>
                          <a:cs typeface="Times New Roman" panose="02020603050405020304" pitchFamily="18" charset="0"/>
                        </a:rPr>
                        <a:t>Calm</a:t>
                      </a:r>
                    </a:p>
                  </a:txBody>
                  <a:tcPr>
                    <a:solidFill>
                      <a:srgbClr val="B6114D">
                        <a:alpha val="0"/>
                      </a:srgbClr>
                    </a:solidFill>
                  </a:tcPr>
                </a:tc>
                <a:tc>
                  <a:txBody>
                    <a:bodyPr/>
                    <a:lstStyle/>
                    <a:p>
                      <a:pPr algn="ctr"/>
                      <a:r>
                        <a:rPr lang="en-IN" sz="1600" dirty="0">
                          <a:latin typeface="Times New Roman" panose="02020603050405020304" pitchFamily="18" charset="0"/>
                          <a:cs typeface="Times New Roman" panose="02020603050405020304" pitchFamily="18" charset="0"/>
                        </a:rPr>
                        <a:t>USA</a:t>
                      </a:r>
                    </a:p>
                  </a:txBody>
                  <a:tcP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https://www.calm.com/</a:t>
                      </a:r>
                    </a:p>
                  </a:txBody>
                  <a:tcPr>
                    <a:solidFill>
                      <a:srgbClr val="B6114D">
                        <a:alpha val="0"/>
                      </a:srgbClr>
                    </a:solidFill>
                  </a:tcPr>
                </a:tc>
                <a:extLst>
                  <a:ext uri="{0D108BD9-81ED-4DB2-BD59-A6C34878D82A}">
                    <a16:rowId xmlns:a16="http://schemas.microsoft.com/office/drawing/2014/main" val="4271355881"/>
                  </a:ext>
                </a:extLst>
              </a:tr>
              <a:tr h="404508">
                <a:tc>
                  <a:txBody>
                    <a:bodyPr/>
                    <a:lstStyle/>
                    <a:p>
                      <a:r>
                        <a:rPr lang="en-IN" sz="1600" b="1" dirty="0" err="1">
                          <a:latin typeface="Times New Roman" panose="02020603050405020304" pitchFamily="18" charset="0"/>
                          <a:cs typeface="Times New Roman" panose="02020603050405020304" pitchFamily="18" charset="0"/>
                        </a:rPr>
                        <a:t>BetterHelp</a:t>
                      </a:r>
                      <a:endParaRPr lang="en-IN" sz="1600" b="1" dirty="0">
                        <a:latin typeface="Times New Roman" panose="02020603050405020304" pitchFamily="18" charset="0"/>
                        <a:cs typeface="Times New Roman" panose="02020603050405020304" pitchFamily="18" charset="0"/>
                      </a:endParaRPr>
                    </a:p>
                  </a:txBody>
                  <a:tcPr>
                    <a:solidFill>
                      <a:srgbClr val="B6114D">
                        <a:alpha val="0"/>
                      </a:srgbClr>
                    </a:solidFill>
                  </a:tcPr>
                </a:tc>
                <a:tc>
                  <a:txBody>
                    <a:bodyPr/>
                    <a:lstStyle/>
                    <a:p>
                      <a:pPr algn="ctr"/>
                      <a:r>
                        <a:rPr lang="en-IN" sz="1600" dirty="0">
                          <a:latin typeface="Times New Roman" panose="02020603050405020304" pitchFamily="18" charset="0"/>
                          <a:cs typeface="Times New Roman" panose="02020603050405020304" pitchFamily="18" charset="0"/>
                        </a:rPr>
                        <a:t>USA</a:t>
                      </a:r>
                    </a:p>
                  </a:txBody>
                  <a:tcP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https://www.betterhelp.com/</a:t>
                      </a:r>
                    </a:p>
                  </a:txBody>
                  <a:tcPr>
                    <a:solidFill>
                      <a:srgbClr val="B6114D">
                        <a:alpha val="0"/>
                      </a:srgbClr>
                    </a:solidFill>
                  </a:tcPr>
                </a:tc>
                <a:extLst>
                  <a:ext uri="{0D108BD9-81ED-4DB2-BD59-A6C34878D82A}">
                    <a16:rowId xmlns:a16="http://schemas.microsoft.com/office/drawing/2014/main" val="128404054"/>
                  </a:ext>
                </a:extLst>
              </a:tr>
              <a:tr h="404508">
                <a:tc>
                  <a:txBody>
                    <a:bodyPr/>
                    <a:lstStyle/>
                    <a:p>
                      <a:r>
                        <a:rPr lang="en-IN" sz="1600" b="1" dirty="0" err="1">
                          <a:latin typeface="Times New Roman" panose="02020603050405020304" pitchFamily="18" charset="0"/>
                          <a:cs typeface="Times New Roman" panose="02020603050405020304" pitchFamily="18" charset="0"/>
                        </a:rPr>
                        <a:t>Talkspace</a:t>
                      </a:r>
                      <a:endParaRPr lang="en-IN" sz="1600" b="1" dirty="0">
                        <a:latin typeface="Times New Roman" panose="02020603050405020304" pitchFamily="18" charset="0"/>
                        <a:cs typeface="Times New Roman" panose="02020603050405020304" pitchFamily="18" charset="0"/>
                      </a:endParaRPr>
                    </a:p>
                  </a:txBody>
                  <a:tcPr>
                    <a:solidFill>
                      <a:srgbClr val="B6114D">
                        <a:alpha val="0"/>
                      </a:srgbClr>
                    </a:solidFill>
                  </a:tcPr>
                </a:tc>
                <a:tc>
                  <a:txBody>
                    <a:bodyPr/>
                    <a:lstStyle/>
                    <a:p>
                      <a:pPr algn="ctr"/>
                      <a:r>
                        <a:rPr lang="en-IN" sz="1600" dirty="0">
                          <a:latin typeface="Times New Roman" panose="02020603050405020304" pitchFamily="18" charset="0"/>
                          <a:cs typeface="Times New Roman" panose="02020603050405020304" pitchFamily="18" charset="0"/>
                        </a:rPr>
                        <a:t>USA</a:t>
                      </a:r>
                    </a:p>
                  </a:txBody>
                  <a:tcP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https://www.talkspace.com/</a:t>
                      </a:r>
                    </a:p>
                  </a:txBody>
                  <a:tcPr>
                    <a:solidFill>
                      <a:srgbClr val="B6114D">
                        <a:alpha val="0"/>
                      </a:srgbClr>
                    </a:solidFill>
                  </a:tcPr>
                </a:tc>
                <a:extLst>
                  <a:ext uri="{0D108BD9-81ED-4DB2-BD59-A6C34878D82A}">
                    <a16:rowId xmlns:a16="http://schemas.microsoft.com/office/drawing/2014/main" val="915753353"/>
                  </a:ext>
                </a:extLst>
              </a:tr>
              <a:tr h="404508">
                <a:tc>
                  <a:txBody>
                    <a:bodyPr/>
                    <a:lstStyle/>
                    <a:p>
                      <a:r>
                        <a:rPr lang="en-IN" sz="1600" b="1" dirty="0" err="1">
                          <a:latin typeface="Times New Roman" panose="02020603050405020304" pitchFamily="18" charset="0"/>
                          <a:cs typeface="Times New Roman" panose="02020603050405020304" pitchFamily="18" charset="0"/>
                        </a:rPr>
                        <a:t>Wysa</a:t>
                      </a:r>
                      <a:endParaRPr lang="en-IN" sz="1600" b="1" dirty="0">
                        <a:latin typeface="Times New Roman" panose="02020603050405020304" pitchFamily="18" charset="0"/>
                        <a:cs typeface="Times New Roman" panose="02020603050405020304" pitchFamily="18" charset="0"/>
                      </a:endParaRPr>
                    </a:p>
                  </a:txBody>
                  <a:tcPr>
                    <a:solidFill>
                      <a:srgbClr val="B6114D">
                        <a:alpha val="0"/>
                      </a:srgbClr>
                    </a:solidFill>
                  </a:tcPr>
                </a:tc>
                <a:tc>
                  <a:txBody>
                    <a:bodyPr/>
                    <a:lstStyle/>
                    <a:p>
                      <a:pPr algn="ctr"/>
                      <a:r>
                        <a:rPr lang="en-IN" sz="1600" dirty="0">
                          <a:latin typeface="Times New Roman" panose="02020603050405020304" pitchFamily="18" charset="0"/>
                          <a:cs typeface="Times New Roman" panose="02020603050405020304" pitchFamily="18" charset="0"/>
                        </a:rPr>
                        <a:t>India / USA</a:t>
                      </a:r>
                    </a:p>
                  </a:txBody>
                  <a:tcP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https://www.wysa.io/</a:t>
                      </a:r>
                    </a:p>
                  </a:txBody>
                  <a:tcPr>
                    <a:solidFill>
                      <a:srgbClr val="B6114D">
                        <a:alpha val="0"/>
                      </a:srgbClr>
                    </a:solidFill>
                  </a:tcPr>
                </a:tc>
                <a:extLst>
                  <a:ext uri="{0D108BD9-81ED-4DB2-BD59-A6C34878D82A}">
                    <a16:rowId xmlns:a16="http://schemas.microsoft.com/office/drawing/2014/main" val="3802212530"/>
                  </a:ext>
                </a:extLst>
              </a:tr>
            </a:tbl>
          </a:graphicData>
        </a:graphic>
      </p:graphicFrame>
    </p:spTree>
    <p:extLst>
      <p:ext uri="{BB962C8B-B14F-4D97-AF65-F5344CB8AC3E}">
        <p14:creationId xmlns:p14="http://schemas.microsoft.com/office/powerpoint/2010/main" val="1226017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30577-9F51-3DFB-DE83-80FF0458383D}"/>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AB8D168F-D5FA-9F88-F991-9DD930DA0FE5}"/>
              </a:ext>
            </a:extLst>
          </p:cNvPr>
          <p:cNvSpPr txBox="1">
            <a:spLocks noGrp="1"/>
          </p:cNvSpPr>
          <p:nvPr>
            <p:ph type="title"/>
          </p:nvPr>
        </p:nvSpPr>
        <p:spPr>
          <a:xfrm>
            <a:off x="182881" y="264981"/>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Research labs working on similar problem </a:t>
            </a:r>
            <a:endParaRPr lang="en-IN" sz="5400" dirty="0"/>
          </a:p>
        </p:txBody>
      </p:sp>
      <p:graphicFrame>
        <p:nvGraphicFramePr>
          <p:cNvPr id="3" name="Table 2">
            <a:extLst>
              <a:ext uri="{FF2B5EF4-FFF2-40B4-BE49-F238E27FC236}">
                <a16:creationId xmlns:a16="http://schemas.microsoft.com/office/drawing/2014/main" id="{7559614A-DB94-3AC2-7AE4-6D6102CD8201}"/>
              </a:ext>
            </a:extLst>
          </p:cNvPr>
          <p:cNvGraphicFramePr>
            <a:graphicFrameLocks noGrp="1"/>
          </p:cNvGraphicFramePr>
          <p:nvPr>
            <p:extLst>
              <p:ext uri="{D42A27DB-BD31-4B8C-83A1-F6EECF244321}">
                <p14:modId xmlns:p14="http://schemas.microsoft.com/office/powerpoint/2010/main" val="2300858424"/>
              </p:ext>
            </p:extLst>
          </p:nvPr>
        </p:nvGraphicFramePr>
        <p:xfrm>
          <a:off x="182881" y="1554480"/>
          <a:ext cx="11470640" cy="2836380"/>
        </p:xfrm>
        <a:graphic>
          <a:graphicData uri="http://schemas.openxmlformats.org/drawingml/2006/table">
            <a:tbl>
              <a:tblPr firstRow="1" bandRow="1">
                <a:tableStyleId>{B229F12B-DD2F-434A-8BDD-88915C9BCD54}</a:tableStyleId>
              </a:tblPr>
              <a:tblGrid>
                <a:gridCol w="6508651">
                  <a:extLst>
                    <a:ext uri="{9D8B030D-6E8A-4147-A177-3AD203B41FA5}">
                      <a16:colId xmlns:a16="http://schemas.microsoft.com/office/drawing/2014/main" val="1250080454"/>
                    </a:ext>
                  </a:extLst>
                </a:gridCol>
                <a:gridCol w="4961989">
                  <a:extLst>
                    <a:ext uri="{9D8B030D-6E8A-4147-A177-3AD203B41FA5}">
                      <a16:colId xmlns:a16="http://schemas.microsoft.com/office/drawing/2014/main" val="1462208224"/>
                    </a:ext>
                  </a:extLst>
                </a:gridCol>
              </a:tblGrid>
              <a:tr h="813840">
                <a:tc>
                  <a:txBody>
                    <a:bodyPr/>
                    <a:lstStyle/>
                    <a:p>
                      <a:pPr algn="ctr"/>
                      <a:r>
                        <a:rPr lang="en-IN" sz="2400" b="1">
                          <a:latin typeface="Times New Roman" panose="02020603050405020304" pitchFamily="18" charset="0"/>
                          <a:cs typeface="Times New Roman" panose="02020603050405020304" pitchFamily="18" charset="0"/>
                        </a:rPr>
                        <a:t>Research Lab Name</a:t>
                      </a:r>
                      <a:endParaRPr lang="en-IN" sz="2400" b="1" dirty="0">
                        <a:latin typeface="Times New Roman" panose="02020603050405020304" pitchFamily="18" charset="0"/>
                        <a:cs typeface="Times New Roman" panose="02020603050405020304" pitchFamily="18" charset="0"/>
                      </a:endParaRPr>
                    </a:p>
                  </a:txBody>
                  <a:tcPr>
                    <a:solidFill>
                      <a:srgbClr val="B6114D">
                        <a:alpha val="0"/>
                      </a:srgbClr>
                    </a:solidFill>
                  </a:tcPr>
                </a:tc>
                <a:tc>
                  <a:txBody>
                    <a:bodyPr/>
                    <a:lstStyle/>
                    <a:p>
                      <a:pPr algn="ctr"/>
                      <a:r>
                        <a:rPr lang="en-IN" sz="2400" b="1" dirty="0">
                          <a:latin typeface="Times New Roman" panose="02020603050405020304" pitchFamily="18" charset="0"/>
                          <a:cs typeface="Times New Roman" panose="02020603050405020304" pitchFamily="18" charset="0"/>
                        </a:rPr>
                        <a:t>URL</a:t>
                      </a:r>
                    </a:p>
                  </a:txBody>
                  <a:tcPr>
                    <a:solidFill>
                      <a:srgbClr val="B6114D">
                        <a:alpha val="0"/>
                      </a:srgbClr>
                    </a:solidFill>
                  </a:tcPr>
                </a:tc>
                <a:extLst>
                  <a:ext uri="{0D108BD9-81ED-4DB2-BD59-A6C34878D82A}">
                    <a16:rowId xmlns:a16="http://schemas.microsoft.com/office/drawing/2014/main" val="1083485926"/>
                  </a:ext>
                </a:extLst>
              </a:tr>
              <a:tr h="404508">
                <a:tc>
                  <a:txBody>
                    <a:bodyPr/>
                    <a:lstStyle/>
                    <a:p>
                      <a:pPr>
                        <a:buNone/>
                      </a:pPr>
                      <a:r>
                        <a:rPr lang="en-IN" sz="1600" b="1" dirty="0">
                          <a:latin typeface="Times New Roman" panose="02020603050405020304" pitchFamily="18" charset="0"/>
                          <a:cs typeface="Times New Roman" panose="02020603050405020304" pitchFamily="18" charset="0"/>
                        </a:rPr>
                        <a:t>MIT Media Lab – Affective Computing group</a:t>
                      </a:r>
                    </a:p>
                  </a:txBody>
                  <a:tcPr anchor="ct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https://www.media.mit.edu/groups/affective-computing</a:t>
                      </a:r>
                    </a:p>
                  </a:txBody>
                  <a:tcPr>
                    <a:solidFill>
                      <a:srgbClr val="B6114D">
                        <a:alpha val="0"/>
                      </a:srgbClr>
                    </a:solidFill>
                  </a:tcPr>
                </a:tc>
                <a:extLst>
                  <a:ext uri="{0D108BD9-81ED-4DB2-BD59-A6C34878D82A}">
                    <a16:rowId xmlns:a16="http://schemas.microsoft.com/office/drawing/2014/main" val="2193611300"/>
                  </a:ext>
                </a:extLst>
              </a:tr>
              <a:tr h="404508">
                <a:tc>
                  <a:txBody>
                    <a:bodyPr/>
                    <a:lstStyle/>
                    <a:p>
                      <a:r>
                        <a:rPr lang="en-IN" sz="1600" b="1" dirty="0">
                          <a:latin typeface="Times New Roman" panose="02020603050405020304" pitchFamily="18" charset="0"/>
                          <a:cs typeface="Times New Roman" panose="02020603050405020304" pitchFamily="18" charset="0"/>
                        </a:rPr>
                        <a:t>Stanford Center for digital Health</a:t>
                      </a:r>
                    </a:p>
                  </a:txBody>
                  <a:tcP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https://digitalhealth.stanford.edu</a:t>
                      </a:r>
                    </a:p>
                  </a:txBody>
                  <a:tcPr>
                    <a:solidFill>
                      <a:srgbClr val="B6114D">
                        <a:alpha val="0"/>
                      </a:srgbClr>
                    </a:solidFill>
                  </a:tcPr>
                </a:tc>
                <a:extLst>
                  <a:ext uri="{0D108BD9-81ED-4DB2-BD59-A6C34878D82A}">
                    <a16:rowId xmlns:a16="http://schemas.microsoft.com/office/drawing/2014/main" val="10768018"/>
                  </a:ext>
                </a:extLst>
              </a:tr>
              <a:tr h="404508">
                <a:tc>
                  <a:txBody>
                    <a:bodyPr/>
                    <a:lstStyle/>
                    <a:p>
                      <a:r>
                        <a:rPr lang="en-IN" sz="1600" b="1" dirty="0">
                          <a:latin typeface="Times New Roman" panose="02020603050405020304" pitchFamily="18" charset="0"/>
                          <a:cs typeface="Times New Roman" panose="02020603050405020304" pitchFamily="18" charset="0"/>
                        </a:rPr>
                        <a:t>Harvard T.H Chan – Mental Health &amp; Technology Lab</a:t>
                      </a:r>
                    </a:p>
                  </a:txBody>
                  <a:tcP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https://www.hsph.harvard.edu/</a:t>
                      </a:r>
                    </a:p>
                  </a:txBody>
                  <a:tcPr>
                    <a:solidFill>
                      <a:srgbClr val="B6114D">
                        <a:alpha val="0"/>
                      </a:srgbClr>
                    </a:solidFill>
                  </a:tcPr>
                </a:tc>
                <a:extLst>
                  <a:ext uri="{0D108BD9-81ED-4DB2-BD59-A6C34878D82A}">
                    <a16:rowId xmlns:a16="http://schemas.microsoft.com/office/drawing/2014/main" val="366560856"/>
                  </a:ext>
                </a:extLst>
              </a:tr>
              <a:tr h="404508">
                <a:tc>
                  <a:txBody>
                    <a:bodyPr/>
                    <a:lstStyle/>
                    <a:p>
                      <a:r>
                        <a:rPr lang="en-IN" sz="1600" b="1" dirty="0">
                          <a:latin typeface="Times New Roman" panose="02020603050405020304" pitchFamily="18" charset="0"/>
                          <a:cs typeface="Times New Roman" panose="02020603050405020304" pitchFamily="18" charset="0"/>
                        </a:rPr>
                        <a:t>Oxford Internet Institute – Digital Mental Health Research</a:t>
                      </a:r>
                    </a:p>
                  </a:txBody>
                  <a:tcP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https://www.oii.ox.ac.uk/</a:t>
                      </a:r>
                    </a:p>
                  </a:txBody>
                  <a:tcPr>
                    <a:solidFill>
                      <a:srgbClr val="B6114D">
                        <a:alpha val="0"/>
                      </a:srgbClr>
                    </a:solidFill>
                  </a:tcPr>
                </a:tc>
                <a:extLst>
                  <a:ext uri="{0D108BD9-81ED-4DB2-BD59-A6C34878D82A}">
                    <a16:rowId xmlns:a16="http://schemas.microsoft.com/office/drawing/2014/main" val="3383436331"/>
                  </a:ext>
                </a:extLst>
              </a:tr>
              <a:tr h="404508">
                <a:tc>
                  <a:txBody>
                    <a:bodyPr/>
                    <a:lstStyle/>
                    <a:p>
                      <a:r>
                        <a:rPr lang="en-IN" sz="1600" b="1" dirty="0">
                          <a:latin typeface="Times New Roman" panose="02020603050405020304" pitchFamily="18" charset="0"/>
                          <a:cs typeface="Times New Roman" panose="02020603050405020304" pitchFamily="18" charset="0"/>
                        </a:rPr>
                        <a:t>UCLA Center for Mental Health &amp; Technology</a:t>
                      </a:r>
                    </a:p>
                  </a:txBody>
                  <a:tcPr>
                    <a:solidFill>
                      <a:srgbClr val="B6114D">
                        <a:alpha val="0"/>
                      </a:srgbClr>
                    </a:solidFill>
                  </a:tcPr>
                </a:tc>
                <a:tc>
                  <a:txBody>
                    <a:bodyPr/>
                    <a:lstStyle/>
                    <a:p>
                      <a:r>
                        <a:rPr lang="en-IN" sz="1600" dirty="0">
                          <a:latin typeface="Times New Roman" panose="02020603050405020304" pitchFamily="18" charset="0"/>
                          <a:cs typeface="Times New Roman" panose="02020603050405020304" pitchFamily="18" charset="0"/>
                        </a:rPr>
                        <a:t>https://www.semel.ucla.edu/mental-health-technology</a:t>
                      </a:r>
                    </a:p>
                  </a:txBody>
                  <a:tcPr>
                    <a:solidFill>
                      <a:srgbClr val="B6114D">
                        <a:alpha val="0"/>
                      </a:srgbClr>
                    </a:solidFill>
                  </a:tcPr>
                </a:tc>
                <a:extLst>
                  <a:ext uri="{0D108BD9-81ED-4DB2-BD59-A6C34878D82A}">
                    <a16:rowId xmlns:a16="http://schemas.microsoft.com/office/drawing/2014/main" val="2449703215"/>
                  </a:ext>
                </a:extLst>
              </a:tr>
            </a:tbl>
          </a:graphicData>
        </a:graphic>
      </p:graphicFrame>
    </p:spTree>
    <p:extLst>
      <p:ext uri="{BB962C8B-B14F-4D97-AF65-F5344CB8AC3E}">
        <p14:creationId xmlns:p14="http://schemas.microsoft.com/office/powerpoint/2010/main" val="38509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ECA75-2A65-F210-3F25-E6D42F871574}"/>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49307E3B-847F-0305-32E3-59B92F401C11}"/>
              </a:ext>
            </a:extLst>
          </p:cNvPr>
          <p:cNvSpPr txBox="1">
            <a:spLocks noGrp="1"/>
          </p:cNvSpPr>
          <p:nvPr>
            <p:ph type="title"/>
          </p:nvPr>
        </p:nvSpPr>
        <p:spPr>
          <a:xfrm>
            <a:off x="182881" y="264981"/>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Media specific inputs on this product </a:t>
            </a:r>
            <a:endParaRPr lang="en-IN" sz="5400" dirty="0"/>
          </a:p>
        </p:txBody>
      </p:sp>
      <p:sp>
        <p:nvSpPr>
          <p:cNvPr id="9" name="Rectangle 6">
            <a:extLst>
              <a:ext uri="{FF2B5EF4-FFF2-40B4-BE49-F238E27FC236}">
                <a16:creationId xmlns:a16="http://schemas.microsoft.com/office/drawing/2014/main" id="{CA40181E-5C7E-BF46-F30D-65A6352A1FD7}"/>
              </a:ext>
            </a:extLst>
          </p:cNvPr>
          <p:cNvSpPr>
            <a:spLocks noGrp="1" noChangeArrowheads="1"/>
          </p:cNvSpPr>
          <p:nvPr>
            <p:ph type="body" idx="1"/>
          </p:nvPr>
        </p:nvSpPr>
        <p:spPr bwMode="auto">
          <a:xfrm>
            <a:off x="182881" y="1330042"/>
            <a:ext cx="1164336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C1E10F74-317E-6920-8F9B-F1FF851EBE72}"/>
              </a:ext>
            </a:extLst>
          </p:cNvPr>
          <p:cNvSpPr>
            <a:spLocks noChangeArrowheads="1"/>
          </p:cNvSpPr>
          <p:nvPr/>
        </p:nvSpPr>
        <p:spPr bwMode="auto">
          <a:xfrm>
            <a:off x="365759" y="899155"/>
            <a:ext cx="1131824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Media reports increasingly highlight 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rising mental health concerns among women and youth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especially related to stress, anxiety, trauma, and social pressure.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News articles and social media discussions emphasize that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stigma and fear of judgment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remain major barriers to seeking mental health support.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 media trends show a growing demand for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anonymous, app-based mental health solutions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particularly among young users who prefer private and non-confrontational support.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Several media stories point out gaps in existing systems, such as:</a:t>
            </a:r>
          </a:p>
          <a:p>
            <a:pPr marL="0" marR="0" lvl="0" indent="0" algn="l" defTabSz="914400" rtl="0" eaLnBrk="0" fontAlgn="base" latinLnBrk="0" hangingPunct="0">
              <a:lnSpc>
                <a:spcPct val="100000"/>
              </a:lnSpc>
              <a:spcBef>
                <a:spcPct val="0"/>
              </a:spcBef>
              <a:spcAft>
                <a:spcPct val="0"/>
              </a:spcAft>
              <a:buClrTx/>
              <a:buSzTx/>
              <a:tabLst/>
            </a:pPr>
            <a:r>
              <a:rPr lang="en-US" altLang="en-US" sz="2000" dirty="0">
                <a:solidFill>
                  <a:schemeClr val="tx1"/>
                </a:solidFill>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access to mental health professionals</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 cost of therapy</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Lack of continuous emotional monitoring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rise of AI-based wellness apps in media discussions reflects the need for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scalable, technology-driven mental health support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especially for early intervention.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media insights reinforce the relevance of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TENAWell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 a platform that combines anonymity, emotional support, and guided access to care.</a:t>
            </a:r>
          </a:p>
        </p:txBody>
      </p:sp>
    </p:spTree>
    <p:extLst>
      <p:ext uri="{BB962C8B-B14F-4D97-AF65-F5344CB8AC3E}">
        <p14:creationId xmlns:p14="http://schemas.microsoft.com/office/powerpoint/2010/main" val="42114370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EE9C7-377C-8634-3670-D163139A0E6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802A39E-F05E-6362-10C0-C940C9B9CFA6}"/>
              </a:ext>
            </a:extLst>
          </p:cNvPr>
          <p:cNvSpPr>
            <a:spLocks noGrp="1"/>
          </p:cNvSpPr>
          <p:nvPr>
            <p:ph type="body" idx="1"/>
          </p:nvPr>
        </p:nvSpPr>
        <p:spPr>
          <a:xfrm>
            <a:off x="462280" y="811884"/>
            <a:ext cx="11201400" cy="5253636"/>
          </a:xfrm>
        </p:spPr>
        <p:txBody>
          <a:bodyPr>
            <a:noAutofit/>
          </a:bodyPr>
          <a:lstStyle/>
          <a:p>
            <a:pPr>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Product Name: TENAWell</a:t>
            </a:r>
          </a:p>
          <a:p>
            <a:pPr>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Slogan: Restoring hope, one voice at a time.</a:t>
            </a:r>
          </a:p>
          <a:p>
            <a:pPr>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Logo:</a:t>
            </a:r>
          </a:p>
          <a:p>
            <a:pPr>
              <a:buFont typeface="Wingdings" panose="05000000000000000000" pitchFamily="2" charset="2"/>
              <a:buChar char="ü"/>
            </a:pPr>
            <a:r>
              <a:rPr lang="en-US" sz="2000" b="1" dirty="0"/>
              <a:t>Client / Industry Targeted:</a:t>
            </a:r>
          </a:p>
          <a:p>
            <a:pPr lvl="1">
              <a:buFont typeface="Wingdings" panose="05000000000000000000" pitchFamily="2" charset="2"/>
              <a:buChar char="ü"/>
            </a:pPr>
            <a:r>
              <a:rPr lang="en-US" sz="2000" dirty="0"/>
              <a:t>Digital Mental Health &amp; Wellness</a:t>
            </a:r>
          </a:p>
          <a:p>
            <a:pPr lvl="1">
              <a:buFont typeface="Wingdings" panose="05000000000000000000" pitchFamily="2" charset="2"/>
              <a:buChar char="ü"/>
            </a:pPr>
            <a:r>
              <a:rPr lang="en-US" sz="2000" dirty="0"/>
              <a:t>Healthcare Technology</a:t>
            </a:r>
          </a:p>
          <a:p>
            <a:pPr lvl="1">
              <a:buFont typeface="Wingdings" panose="05000000000000000000" pitchFamily="2" charset="2"/>
              <a:buChar char="ü"/>
            </a:pPr>
            <a:r>
              <a:rPr lang="en-US" sz="2000" dirty="0"/>
              <a:t>Women &amp; Youth Mental Well-being</a:t>
            </a:r>
          </a:p>
          <a:p>
            <a:pPr>
              <a:buFont typeface="Wingdings" panose="05000000000000000000" pitchFamily="2" charset="2"/>
              <a:buChar char="ü"/>
            </a:pPr>
            <a:r>
              <a:rPr lang="en-US" sz="2000" b="1" dirty="0"/>
              <a:t>Problem Statement</a:t>
            </a:r>
          </a:p>
          <a:p>
            <a:pPr marL="50800" indent="0">
              <a:buNone/>
            </a:pPr>
            <a:r>
              <a:rPr lang="en-US" sz="2000" b="1" dirty="0"/>
              <a:t>	</a:t>
            </a:r>
            <a:r>
              <a:rPr lang="en-US" sz="2000" dirty="0"/>
              <a:t>Women and youth experiencing emotional distress often avoid seeking mental health support due to stigma, fear of identity exposure, and limited access to affordable and continuous care. Existing solutions lack anonymity, emotional continuity, and integrated progress tracking with professionals.</a:t>
            </a:r>
          </a:p>
          <a:p>
            <a:pPr>
              <a:buFont typeface="Wingdings" panose="05000000000000000000" pitchFamily="2" charset="2"/>
              <a:buChar char="ü"/>
            </a:pPr>
            <a:r>
              <a:rPr lang="en-US" sz="2000" b="1" dirty="0"/>
              <a:t>Target Users: Women, Youth(age between 11-19 yrs), Medical Counsellors or Doctors</a:t>
            </a:r>
            <a:endParaRPr lang="en-US" sz="2000" b="1" dirty="0">
              <a:latin typeface="Times New Roman" panose="02020603050405020304" pitchFamily="18" charset="0"/>
              <a:cs typeface="Times New Roman" panose="02020603050405020304" pitchFamily="18" charset="0"/>
            </a:endParaRPr>
          </a:p>
          <a:p>
            <a:pPr marL="50800" indent="0">
              <a:buNone/>
            </a:pPr>
            <a:endParaRPr lang="en-US" sz="2000" b="1" dirty="0">
              <a:latin typeface="Times New Roman" panose="02020603050405020304" pitchFamily="18" charset="0"/>
              <a:cs typeface="Times New Roman" panose="02020603050405020304" pitchFamily="18" charset="0"/>
            </a:endParaRPr>
          </a:p>
        </p:txBody>
      </p:sp>
      <p:sp>
        <p:nvSpPr>
          <p:cNvPr id="5" name="Google Shape;1035;p46">
            <a:extLst>
              <a:ext uri="{FF2B5EF4-FFF2-40B4-BE49-F238E27FC236}">
                <a16:creationId xmlns:a16="http://schemas.microsoft.com/office/drawing/2014/main" id="{DE56674D-1503-F999-8D32-9AB227726899}"/>
              </a:ext>
            </a:extLst>
          </p:cNvPr>
          <p:cNvSpPr txBox="1">
            <a:spLocks noGrp="1"/>
          </p:cNvSpPr>
          <p:nvPr>
            <p:ph type="title"/>
          </p:nvPr>
        </p:nvSpPr>
        <p:spPr>
          <a:xfrm>
            <a:off x="331501" y="223204"/>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1.Project Overview</a:t>
            </a:r>
            <a:endParaRPr lang="en-IN" sz="5400" dirty="0"/>
          </a:p>
        </p:txBody>
      </p:sp>
    </p:spTree>
    <p:extLst>
      <p:ext uri="{BB962C8B-B14F-4D97-AF65-F5344CB8AC3E}">
        <p14:creationId xmlns:p14="http://schemas.microsoft.com/office/powerpoint/2010/main" val="3997236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A8777-EB23-2509-EA8D-9267F6D021DB}"/>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120ADE61-044B-11B1-3FE5-2180AA9FAD1F}"/>
              </a:ext>
            </a:extLst>
          </p:cNvPr>
          <p:cNvSpPr txBox="1">
            <a:spLocks noGrp="1"/>
          </p:cNvSpPr>
          <p:nvPr>
            <p:ph type="title"/>
          </p:nvPr>
        </p:nvSpPr>
        <p:spPr>
          <a:xfrm>
            <a:off x="182881" y="264981"/>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Hackathon Ref &amp; Inspiration </a:t>
            </a:r>
            <a:endParaRPr lang="en-IN" sz="5400" dirty="0"/>
          </a:p>
        </p:txBody>
      </p:sp>
      <p:sp>
        <p:nvSpPr>
          <p:cNvPr id="9" name="Rectangle 6">
            <a:extLst>
              <a:ext uri="{FF2B5EF4-FFF2-40B4-BE49-F238E27FC236}">
                <a16:creationId xmlns:a16="http://schemas.microsoft.com/office/drawing/2014/main" id="{F221EA70-F096-70B2-5E67-2DAA1BCD9454}"/>
              </a:ext>
            </a:extLst>
          </p:cNvPr>
          <p:cNvSpPr>
            <a:spLocks noGrp="1" noChangeArrowheads="1"/>
          </p:cNvSpPr>
          <p:nvPr>
            <p:ph type="body" idx="1"/>
          </p:nvPr>
        </p:nvSpPr>
        <p:spPr bwMode="auto">
          <a:xfrm>
            <a:off x="182881" y="811884"/>
            <a:ext cx="11643360"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FontTx/>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Reference Platform:</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MIT Solve Hackathon – </a:t>
            </a:r>
            <a:r>
              <a:rPr lang="en-US" altLang="en-US" sz="2000" dirty="0">
                <a:solidFill>
                  <a:schemeClr val="tx1"/>
                </a:solidFill>
                <a:latin typeface="Times New Roman" panose="02020603050405020304" pitchFamily="18" charset="0"/>
                <a:cs typeface="Times New Roman" panose="02020603050405020304" pitchFamily="18" charset="0"/>
              </a:rPr>
              <a:t>https://solve.mit.edu/solutions/99200</a:t>
            </a:r>
            <a:endPar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 of Reference:</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hackathon serves as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conceptual reference and inspiration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identifying real-world mental health challenges and solution approaches.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Problem Alignment: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challenges highlighted in the MIT Solve problem statement align with the need for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accessible, stigma-free mental health support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women and youth.</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Idea Adaptation:</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TENAWell adapts and extends the referenced idea into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women and youth-focused digital platform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AI-assisted emotional support, journaling, and doctor-guided progress tracking.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Current Status:</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as an inspiration and validation source for problem understanding and solution direction.</a:t>
            </a:r>
          </a:p>
        </p:txBody>
      </p:sp>
    </p:spTree>
    <p:extLst>
      <p:ext uri="{BB962C8B-B14F-4D97-AF65-F5344CB8AC3E}">
        <p14:creationId xmlns:p14="http://schemas.microsoft.com/office/powerpoint/2010/main" val="1901952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3266F-AEFD-B43F-6913-C4A72ACB2BDA}"/>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35A208C5-C69C-4320-CD89-FDF1580DFD1A}"/>
              </a:ext>
            </a:extLst>
          </p:cNvPr>
          <p:cNvSpPr txBox="1">
            <a:spLocks noGrp="1"/>
          </p:cNvSpPr>
          <p:nvPr>
            <p:ph type="title"/>
          </p:nvPr>
        </p:nvSpPr>
        <p:spPr>
          <a:xfrm>
            <a:off x="182881" y="264981"/>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Types of Questions &amp; Queries</a:t>
            </a:r>
            <a:endParaRPr lang="en-IN" sz="5400" dirty="0"/>
          </a:p>
        </p:txBody>
      </p:sp>
      <p:sp>
        <p:nvSpPr>
          <p:cNvPr id="9" name="Rectangle 6">
            <a:extLst>
              <a:ext uri="{FF2B5EF4-FFF2-40B4-BE49-F238E27FC236}">
                <a16:creationId xmlns:a16="http://schemas.microsoft.com/office/drawing/2014/main" id="{539ABF28-84CE-ADCE-E48A-B0A81BD2C693}"/>
              </a:ext>
            </a:extLst>
          </p:cNvPr>
          <p:cNvSpPr>
            <a:spLocks noGrp="1" noChangeArrowheads="1"/>
          </p:cNvSpPr>
          <p:nvPr>
            <p:ph type="body" idx="1"/>
          </p:nvPr>
        </p:nvSpPr>
        <p:spPr bwMode="auto">
          <a:xfrm>
            <a:off x="182881" y="1330042"/>
            <a:ext cx="1164336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CA41F45B-650F-F330-E79F-3673F090139A}"/>
              </a:ext>
            </a:extLst>
          </p:cNvPr>
          <p:cNvGraphicFramePr>
            <a:graphicFrameLocks noGrp="1"/>
          </p:cNvGraphicFramePr>
          <p:nvPr>
            <p:extLst>
              <p:ext uri="{D42A27DB-BD31-4B8C-83A1-F6EECF244321}">
                <p14:modId xmlns:p14="http://schemas.microsoft.com/office/powerpoint/2010/main" val="2167931238"/>
              </p:ext>
            </p:extLst>
          </p:nvPr>
        </p:nvGraphicFramePr>
        <p:xfrm>
          <a:off x="365759" y="924560"/>
          <a:ext cx="11460482" cy="4831540"/>
        </p:xfrm>
        <a:graphic>
          <a:graphicData uri="http://schemas.openxmlformats.org/drawingml/2006/table">
            <a:tbl>
              <a:tblPr firstRow="1" bandRow="1">
                <a:tableStyleId>{B229F12B-DD2F-434A-8BDD-88915C9BCD54}</a:tableStyleId>
              </a:tblPr>
              <a:tblGrid>
                <a:gridCol w="5730241">
                  <a:extLst>
                    <a:ext uri="{9D8B030D-6E8A-4147-A177-3AD203B41FA5}">
                      <a16:colId xmlns:a16="http://schemas.microsoft.com/office/drawing/2014/main" val="2580031474"/>
                    </a:ext>
                  </a:extLst>
                </a:gridCol>
                <a:gridCol w="5730241">
                  <a:extLst>
                    <a:ext uri="{9D8B030D-6E8A-4147-A177-3AD203B41FA5}">
                      <a16:colId xmlns:a16="http://schemas.microsoft.com/office/drawing/2014/main" val="3837862965"/>
                    </a:ext>
                  </a:extLst>
                </a:gridCol>
              </a:tblGrid>
              <a:tr h="2301700">
                <a:tc>
                  <a:txBody>
                    <a:bodyPr/>
                    <a:lstStyle/>
                    <a:p>
                      <a:pPr algn="ctr"/>
                      <a:r>
                        <a:rPr lang="en-IN" sz="2000" b="1" u="sng" dirty="0"/>
                        <a:t>USER SPECIFIC</a:t>
                      </a:r>
                    </a:p>
                    <a:p>
                      <a:pPr algn="ctr"/>
                      <a:endParaRPr lang="en-IN" sz="2000" b="1" u="sng" dirty="0"/>
                    </a:p>
                    <a:p>
                      <a:r>
                        <a:rPr lang="en-US" sz="2000" dirty="0">
                          <a:latin typeface="Times New Roman" panose="02020603050405020304" pitchFamily="18" charset="0"/>
                          <a:cs typeface="Times New Roman" panose="02020603050405020304" pitchFamily="18" charset="0"/>
                        </a:rPr>
                        <a:t>What is TENAWell and how does it help me?</a:t>
                      </a:r>
                    </a:p>
                    <a:p>
                      <a:r>
                        <a:rPr lang="en-US" sz="2000" dirty="0">
                          <a:latin typeface="Times New Roman" panose="02020603050405020304" pitchFamily="18" charset="0"/>
                          <a:cs typeface="Times New Roman" panose="02020603050405020304" pitchFamily="18" charset="0"/>
                        </a:rPr>
                        <a:t>Who can use this platform?</a:t>
                      </a:r>
                    </a:p>
                    <a:p>
                      <a:r>
                        <a:rPr lang="en-US" sz="2000" dirty="0">
                          <a:latin typeface="Times New Roman" panose="02020603050405020304" pitchFamily="18" charset="0"/>
                          <a:cs typeface="Times New Roman" panose="02020603050405020304" pitchFamily="18" charset="0"/>
                        </a:rPr>
                        <a:t>Can I use the app without sharing my identity?</a:t>
                      </a:r>
                    </a:p>
                    <a:p>
                      <a:r>
                        <a:rPr lang="en-US" sz="2000" dirty="0">
                          <a:latin typeface="Times New Roman" panose="02020603050405020304" pitchFamily="18" charset="0"/>
                          <a:cs typeface="Times New Roman" panose="02020603050405020304" pitchFamily="18" charset="0"/>
                        </a:rPr>
                        <a:t>Is my personal data safe and private?</a:t>
                      </a:r>
                    </a:p>
                    <a:p>
                      <a:r>
                        <a:rPr lang="en-US" sz="2000" dirty="0">
                          <a:latin typeface="Times New Roman" panose="02020603050405020304" pitchFamily="18" charset="0"/>
                          <a:cs typeface="Times New Roman" panose="02020603050405020304" pitchFamily="18" charset="0"/>
                        </a:rPr>
                        <a:t>Is this app free to use?</a:t>
                      </a:r>
                    </a:p>
                    <a:p>
                      <a:pPr algn="l"/>
                      <a:endParaRPr lang="en-IN" sz="2000" b="0" u="none" dirty="0"/>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2000" b="1" u="sng" dirty="0"/>
                        <a:t>ANALYTICAL</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How does the system understand my emotions?</a:t>
                      </a:r>
                    </a:p>
                    <a:p>
                      <a:r>
                        <a:rPr lang="en-US" sz="2000" dirty="0">
                          <a:latin typeface="Times New Roman" panose="02020603050405020304" pitchFamily="18" charset="0"/>
                          <a:cs typeface="Times New Roman" panose="02020603050405020304" pitchFamily="18" charset="0"/>
                        </a:rPr>
                        <a:t>How are my journals analyzed?</a:t>
                      </a:r>
                    </a:p>
                    <a:p>
                      <a:r>
                        <a:rPr lang="en-US" sz="2000" dirty="0">
                          <a:latin typeface="Times New Roman" panose="02020603050405020304" pitchFamily="18" charset="0"/>
                          <a:cs typeface="Times New Roman" panose="02020603050405020304" pitchFamily="18" charset="0"/>
                        </a:rPr>
                        <a:t>What kind of reports are generated?</a:t>
                      </a:r>
                    </a:p>
                    <a:p>
                      <a:r>
                        <a:rPr lang="en-US" sz="2000" dirty="0">
                          <a:latin typeface="Times New Roman" panose="02020603050405020304" pitchFamily="18" charset="0"/>
                          <a:cs typeface="Times New Roman" panose="02020603050405020304" pitchFamily="18" charset="0"/>
                        </a:rPr>
                        <a:t>How is my progress tracked over time?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IN" u="sng" dirty="0"/>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940843236"/>
                  </a:ext>
                </a:extLst>
              </a:tr>
              <a:tr h="2301700">
                <a:tc>
                  <a:txBody>
                    <a:bodyPr/>
                    <a:lstStyle/>
                    <a:p>
                      <a:pPr algn="ctr"/>
                      <a:r>
                        <a:rPr lang="en-IN" sz="2000" b="1" u="sng" dirty="0"/>
                        <a:t>PREDICTIVE</a:t>
                      </a:r>
                    </a:p>
                    <a:p>
                      <a:pPr algn="ctr"/>
                      <a:endParaRPr lang="en-IN" sz="2000" b="1" u="sng"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Can the system suggest when I may need therapy?</a:t>
                      </a:r>
                    </a:p>
                    <a:p>
                      <a:r>
                        <a:rPr lang="en-US" sz="2000" dirty="0">
                          <a:latin typeface="Times New Roman" panose="02020603050405020304" pitchFamily="18" charset="0"/>
                          <a:cs typeface="Times New Roman" panose="02020603050405020304" pitchFamily="18" charset="0"/>
                        </a:rPr>
                        <a:t>Will it alert me if my emotional state worsens?</a:t>
                      </a:r>
                    </a:p>
                    <a:p>
                      <a:r>
                        <a:rPr lang="en-US" sz="2000" dirty="0">
                          <a:latin typeface="Times New Roman" panose="02020603050405020304" pitchFamily="18" charset="0"/>
                          <a:cs typeface="Times New Roman" panose="02020603050405020304" pitchFamily="18" charset="0"/>
                        </a:rPr>
                        <a:t>Can it predict emotional patterns from my entries?</a:t>
                      </a:r>
                    </a:p>
                    <a:p>
                      <a:r>
                        <a:rPr lang="en-US" sz="2000" dirty="0">
                          <a:latin typeface="Times New Roman" panose="02020603050405020304" pitchFamily="18" charset="0"/>
                          <a:cs typeface="Times New Roman" panose="02020603050405020304" pitchFamily="18" charset="0"/>
                        </a:rPr>
                        <a:t>Will it recommend next steps based on my activity?</a:t>
                      </a:r>
                    </a:p>
                    <a:p>
                      <a:pPr algn="l"/>
                      <a:endParaRPr lang="en-IN" sz="2000" b="1" u="sng" dirty="0"/>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IN" u="sng" dirty="0"/>
                        <a:t> </a:t>
                      </a:r>
                      <a:r>
                        <a:rPr lang="en-IN" sz="2000" b="1" u="sng" dirty="0"/>
                        <a:t>PRODUCT &amp; FEATURE RELATED</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Does TENAWell replace a doctor or therapist?</a:t>
                      </a:r>
                    </a:p>
                    <a:p>
                      <a:r>
                        <a:rPr lang="en-US" sz="2000" dirty="0">
                          <a:latin typeface="Times New Roman" panose="02020603050405020304" pitchFamily="18" charset="0"/>
                          <a:cs typeface="Times New Roman" panose="02020603050405020304" pitchFamily="18" charset="0"/>
                        </a:rPr>
                        <a:t>How does the chatbot work?</a:t>
                      </a:r>
                    </a:p>
                    <a:p>
                      <a:r>
                        <a:rPr lang="en-US" sz="2000" dirty="0">
                          <a:latin typeface="Times New Roman" panose="02020603050405020304" pitchFamily="18" charset="0"/>
                          <a:cs typeface="Times New Roman" panose="02020603050405020304" pitchFamily="18" charset="0"/>
                        </a:rPr>
                        <a:t>Can I schedule therapy sessions through the app?</a:t>
                      </a:r>
                    </a:p>
                    <a:p>
                      <a:r>
                        <a:rPr lang="en-US" sz="2000" dirty="0">
                          <a:latin typeface="Times New Roman" panose="02020603050405020304" pitchFamily="18" charset="0"/>
                          <a:cs typeface="Times New Roman" panose="02020603050405020304" pitchFamily="18" charset="0"/>
                        </a:rPr>
                        <a:t>Can doctors see my data without my permission?</a:t>
                      </a:r>
                    </a:p>
                    <a:p>
                      <a:pPr algn="l"/>
                      <a:endParaRPr lang="en-IN" sz="1800" b="0" u="none" dirty="0">
                        <a:latin typeface="Times New Roman" panose="02020603050405020304" pitchFamily="18" charset="0"/>
                        <a:cs typeface="Times New Roman" panose="02020603050405020304" pitchFamily="18" charset="0"/>
                      </a:endParaRP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913173058"/>
                  </a:ext>
                </a:extLst>
              </a:tr>
            </a:tbl>
          </a:graphicData>
        </a:graphic>
      </p:graphicFrame>
    </p:spTree>
    <p:extLst>
      <p:ext uri="{BB962C8B-B14F-4D97-AF65-F5344CB8AC3E}">
        <p14:creationId xmlns:p14="http://schemas.microsoft.com/office/powerpoint/2010/main" val="2935125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FDDB4-11A1-86E9-E07D-667D2631BC88}"/>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0AB07562-9F07-F51A-5FD6-CAE2EA642494}"/>
              </a:ext>
            </a:extLst>
          </p:cNvPr>
          <p:cNvSpPr txBox="1">
            <a:spLocks noGrp="1"/>
          </p:cNvSpPr>
          <p:nvPr>
            <p:ph type="title"/>
          </p:nvPr>
        </p:nvSpPr>
        <p:spPr>
          <a:xfrm>
            <a:off x="60961" y="0"/>
            <a:ext cx="11887199" cy="1330042"/>
          </a:xfrm>
          <a:prstGeom prst="rect">
            <a:avLst/>
          </a:prstGeom>
          <a:noFill/>
          <a:ln>
            <a:noFill/>
          </a:ln>
        </p:spPr>
        <p:txBody>
          <a:bodyPr spcFirstLastPara="1" wrap="square" lIns="91425" tIns="45700" rIns="91425" bIns="45700" anchor="ctr" anchorCtr="0">
            <a:noAutofit/>
          </a:bodyPr>
          <a:lstStyle/>
          <a:p>
            <a:pPr lvl="0" algn="ctr">
              <a:buClr>
                <a:srgbClr val="C00000"/>
              </a:buClr>
              <a:buSzPts val="3600"/>
            </a:pPr>
            <a:br>
              <a:rPr lang="en-IN" b="1" i="1" dirty="0">
                <a:solidFill>
                  <a:srgbClr val="C00000"/>
                </a:solidFill>
                <a:latin typeface="Times New Roman"/>
                <a:cs typeface="Times New Roman"/>
                <a:sym typeface="Times New Roman"/>
              </a:rPr>
            </a:br>
            <a:r>
              <a:rPr lang="en-IN" b="1" i="1" dirty="0">
                <a:solidFill>
                  <a:srgbClr val="C00000"/>
                </a:solidFill>
                <a:latin typeface="Times New Roman"/>
                <a:cs typeface="Times New Roman"/>
                <a:sym typeface="Times New Roman"/>
              </a:rPr>
              <a:t>Requirements </a:t>
            </a:r>
            <a:br>
              <a:rPr lang="en-IN" b="1" i="1" dirty="0">
                <a:solidFill>
                  <a:srgbClr val="C00000"/>
                </a:solidFill>
                <a:latin typeface="Times New Roman"/>
                <a:cs typeface="Times New Roman"/>
                <a:sym typeface="Times New Roman"/>
              </a:rPr>
            </a:br>
            <a:r>
              <a:rPr lang="en-IN" b="1" i="1" dirty="0">
                <a:solidFill>
                  <a:srgbClr val="C00000"/>
                </a:solidFill>
                <a:latin typeface="Times New Roman"/>
                <a:cs typeface="Times New Roman"/>
                <a:sym typeface="Times New Roman"/>
              </a:rPr>
              <a:t>Functional 					   Non Functional</a:t>
            </a:r>
            <a:br>
              <a:rPr lang="en-IN" b="1" i="1" dirty="0">
                <a:solidFill>
                  <a:srgbClr val="C00000"/>
                </a:solidFill>
                <a:latin typeface="Times New Roman"/>
                <a:cs typeface="Times New Roman"/>
                <a:sym typeface="Times New Roman"/>
              </a:rPr>
            </a:br>
            <a:endParaRPr lang="en-IN" sz="5400" dirty="0"/>
          </a:p>
        </p:txBody>
      </p:sp>
      <p:sp>
        <p:nvSpPr>
          <p:cNvPr id="9" name="Rectangle 6">
            <a:extLst>
              <a:ext uri="{FF2B5EF4-FFF2-40B4-BE49-F238E27FC236}">
                <a16:creationId xmlns:a16="http://schemas.microsoft.com/office/drawing/2014/main" id="{E5585817-402B-7C46-5921-8E788F653CB1}"/>
              </a:ext>
            </a:extLst>
          </p:cNvPr>
          <p:cNvSpPr>
            <a:spLocks noGrp="1" noChangeArrowheads="1"/>
          </p:cNvSpPr>
          <p:nvPr>
            <p:ph type="body" idx="1"/>
          </p:nvPr>
        </p:nvSpPr>
        <p:spPr bwMode="auto">
          <a:xfrm>
            <a:off x="182881" y="1330042"/>
            <a:ext cx="1164336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0C70B493-EAE7-2558-4DDC-0438346208F7}"/>
              </a:ext>
            </a:extLst>
          </p:cNvPr>
          <p:cNvGraphicFramePr>
            <a:graphicFrameLocks noGrp="1"/>
          </p:cNvGraphicFramePr>
          <p:nvPr>
            <p:extLst>
              <p:ext uri="{D42A27DB-BD31-4B8C-83A1-F6EECF244321}">
                <p14:modId xmlns:p14="http://schemas.microsoft.com/office/powerpoint/2010/main" val="4094753814"/>
              </p:ext>
            </p:extLst>
          </p:nvPr>
        </p:nvGraphicFramePr>
        <p:xfrm>
          <a:off x="487678" y="1126753"/>
          <a:ext cx="11460482" cy="6178874"/>
        </p:xfrm>
        <a:graphic>
          <a:graphicData uri="http://schemas.openxmlformats.org/drawingml/2006/table">
            <a:tbl>
              <a:tblPr firstRow="1" bandRow="1">
                <a:tableStyleId>{B229F12B-DD2F-434A-8BDD-88915C9BCD54}</a:tableStyleId>
              </a:tblPr>
              <a:tblGrid>
                <a:gridCol w="5730241">
                  <a:extLst>
                    <a:ext uri="{9D8B030D-6E8A-4147-A177-3AD203B41FA5}">
                      <a16:colId xmlns:a16="http://schemas.microsoft.com/office/drawing/2014/main" val="2580031474"/>
                    </a:ext>
                  </a:extLst>
                </a:gridCol>
                <a:gridCol w="5730241">
                  <a:extLst>
                    <a:ext uri="{9D8B030D-6E8A-4147-A177-3AD203B41FA5}">
                      <a16:colId xmlns:a16="http://schemas.microsoft.com/office/drawing/2014/main" val="3837862965"/>
                    </a:ext>
                  </a:extLst>
                </a:gridCol>
              </a:tblGrid>
              <a:tr h="4215813">
                <a:tc>
                  <a:txBody>
                    <a:bodyPr/>
                    <a:lstStyle/>
                    <a:p>
                      <a:r>
                        <a:rPr lang="en-US" sz="1800" b="1" dirty="0">
                          <a:latin typeface="Times New Roman" panose="02020603050405020304" pitchFamily="18" charset="0"/>
                          <a:cs typeface="Times New Roman" panose="02020603050405020304" pitchFamily="18" charset="0"/>
                        </a:rPr>
                        <a:t>User Registration &amp; Consent Management: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Allows users to sign up anonymously or share personal details voluntarily.</a:t>
                      </a:r>
                    </a:p>
                    <a:p>
                      <a:r>
                        <a:rPr lang="en-US" sz="1800" b="1" dirty="0">
                          <a:latin typeface="Times New Roman" panose="02020603050405020304" pitchFamily="18" charset="0"/>
                          <a:cs typeface="Times New Roman" panose="02020603050405020304" pitchFamily="18" charset="0"/>
                        </a:rPr>
                        <a:t>Emotional Journaling:</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Enables users to record thoughts and emotions privately.</a:t>
                      </a:r>
                    </a:p>
                    <a:p>
                      <a:r>
                        <a:rPr lang="en-US" sz="1800" b="1" dirty="0">
                          <a:latin typeface="Times New Roman" panose="02020603050405020304" pitchFamily="18" charset="0"/>
                          <a:cs typeface="Times New Roman" panose="02020603050405020304" pitchFamily="18" charset="0"/>
                        </a:rPr>
                        <a:t>Chatbot Interaction: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Provides empathetic conversations, emotional check-ins, and guidance.</a:t>
                      </a:r>
                    </a:p>
                    <a:p>
                      <a:r>
                        <a:rPr lang="en-US" sz="1800" b="1" dirty="0">
                          <a:latin typeface="Times New Roman" panose="02020603050405020304" pitchFamily="18" charset="0"/>
                          <a:cs typeface="Times New Roman" panose="02020603050405020304" pitchFamily="18" charset="0"/>
                        </a:rPr>
                        <a:t>Therapy Session Scheduling:</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Supports booking and reminders for therapy sessions.</a:t>
                      </a:r>
                    </a:p>
                    <a:p>
                      <a:r>
                        <a:rPr lang="en-US" sz="1800" b="1" dirty="0">
                          <a:latin typeface="Times New Roman" panose="02020603050405020304" pitchFamily="18" charset="0"/>
                          <a:cs typeface="Times New Roman" panose="02020603050405020304" pitchFamily="18" charset="0"/>
                        </a:rPr>
                        <a:t>Doctor Dashboard:</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Allows professionals to view consent-based reports and track progress.</a:t>
                      </a:r>
                    </a:p>
                    <a:p>
                      <a:r>
                        <a:rPr lang="en-US" sz="1800" b="1" dirty="0">
                          <a:latin typeface="Times New Roman" panose="02020603050405020304" pitchFamily="18" charset="0"/>
                          <a:cs typeface="Times New Roman" panose="02020603050405020304" pitchFamily="18" charset="0"/>
                        </a:rPr>
                        <a:t>Report Generation: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Creates emotional trend and pre-/post-therapy comparison reports.</a:t>
                      </a:r>
                    </a:p>
                    <a:p>
                      <a:r>
                        <a:rPr lang="en-US" sz="1800" b="1" dirty="0">
                          <a:latin typeface="Times New Roman" panose="02020603050405020304" pitchFamily="18" charset="0"/>
                          <a:cs typeface="Times New Roman" panose="02020603050405020304" pitchFamily="18" charset="0"/>
                        </a:rPr>
                        <a:t>Safety Alert System:</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Detects high-risk content and triggers supportive alerts.</a:t>
                      </a:r>
                    </a:p>
                    <a:p>
                      <a:pPr algn="l"/>
                      <a:endParaRPr lang="en-IN" sz="2000" b="0" u="none" dirty="0"/>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800" b="1" dirty="0">
                          <a:latin typeface="Times New Roman" panose="02020603050405020304" pitchFamily="18" charset="0"/>
                          <a:cs typeface="Times New Roman" panose="02020603050405020304" pitchFamily="18" charset="0"/>
                        </a:rPr>
                        <a:t>Privacy &amp; Security:</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Ensures anonymized, encrypted, and consent-based data handling.</a:t>
                      </a:r>
                    </a:p>
                    <a:p>
                      <a:r>
                        <a:rPr lang="en-US" sz="1800" b="1" dirty="0">
                          <a:latin typeface="Times New Roman" panose="02020603050405020304" pitchFamily="18" charset="0"/>
                          <a:cs typeface="Times New Roman" panose="02020603050405020304" pitchFamily="18" charset="0"/>
                        </a:rPr>
                        <a:t>Usability:</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Simple, accessible, and user-friendly interface.</a:t>
                      </a:r>
                    </a:p>
                    <a:p>
                      <a:r>
                        <a:rPr lang="en-US" sz="1800" b="1" dirty="0">
                          <a:latin typeface="Times New Roman" panose="02020603050405020304" pitchFamily="18" charset="0"/>
                          <a:cs typeface="Times New Roman" panose="02020603050405020304" pitchFamily="18" charset="0"/>
                        </a:rPr>
                        <a:t>Reliability:</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System availability and consistent performance.</a:t>
                      </a:r>
                    </a:p>
                    <a:p>
                      <a:r>
                        <a:rPr lang="en-US" sz="1800" b="1" dirty="0">
                          <a:latin typeface="Times New Roman" panose="02020603050405020304" pitchFamily="18" charset="0"/>
                          <a:cs typeface="Times New Roman" panose="02020603050405020304" pitchFamily="18" charset="0"/>
                        </a:rPr>
                        <a:t>Scalability:</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Ability to support increasing users and data.</a:t>
                      </a:r>
                    </a:p>
                    <a:p>
                      <a:r>
                        <a:rPr lang="en-US" sz="1800" b="1" dirty="0">
                          <a:latin typeface="Times New Roman" panose="02020603050405020304" pitchFamily="18" charset="0"/>
                          <a:cs typeface="Times New Roman" panose="02020603050405020304" pitchFamily="18" charset="0"/>
                        </a:rPr>
                        <a:t>Performance: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Quick response time for chatbot and analysis.</a:t>
                      </a:r>
                    </a:p>
                    <a:p>
                      <a:r>
                        <a:rPr lang="en-US" sz="1800" b="1" dirty="0">
                          <a:latin typeface="Times New Roman" panose="02020603050405020304" pitchFamily="18" charset="0"/>
                          <a:cs typeface="Times New Roman" panose="02020603050405020304" pitchFamily="18" charset="0"/>
                        </a:rPr>
                        <a:t>Ethical Compliance: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Responsible handling of sensitive mental health data.</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IN" u="sng" dirty="0"/>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940843236"/>
                  </a:ext>
                </a:extLst>
              </a:tr>
              <a:tr h="844874">
                <a:tc>
                  <a:txBody>
                    <a:bodyPr/>
                    <a:lstStyle/>
                    <a:p>
                      <a:pPr algn="ctr"/>
                      <a:endParaRPr lang="en-US" sz="2000" dirty="0">
                        <a:latin typeface="Times New Roman" panose="02020603050405020304" pitchFamily="18" charset="0"/>
                        <a:cs typeface="Times New Roman" panose="02020603050405020304" pitchFamily="18" charset="0"/>
                      </a:endParaRPr>
                    </a:p>
                    <a:p>
                      <a:pPr algn="l"/>
                      <a:endParaRPr lang="en-IN" sz="2000" b="1" u="sng" dirty="0"/>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l"/>
                      <a:endParaRPr lang="en-IN" sz="1800" b="0" u="none" dirty="0">
                        <a:latin typeface="Times New Roman" panose="02020603050405020304" pitchFamily="18" charset="0"/>
                        <a:cs typeface="Times New Roman" panose="02020603050405020304" pitchFamily="18" charset="0"/>
                      </a:endParaRP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913173058"/>
                  </a:ext>
                </a:extLst>
              </a:tr>
            </a:tbl>
          </a:graphicData>
        </a:graphic>
      </p:graphicFrame>
    </p:spTree>
    <p:extLst>
      <p:ext uri="{BB962C8B-B14F-4D97-AF65-F5344CB8AC3E}">
        <p14:creationId xmlns:p14="http://schemas.microsoft.com/office/powerpoint/2010/main" val="37538685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F7351-9A8C-81F7-87B9-366B5981F140}"/>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3FD78781-FB64-50E3-7015-AEEB6560B33C}"/>
              </a:ext>
            </a:extLst>
          </p:cNvPr>
          <p:cNvSpPr txBox="1">
            <a:spLocks noGrp="1"/>
          </p:cNvSpPr>
          <p:nvPr>
            <p:ph type="title"/>
          </p:nvPr>
        </p:nvSpPr>
        <p:spPr>
          <a:xfrm>
            <a:off x="182881" y="264981"/>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What type of study does the product require?</a:t>
            </a:r>
            <a:endParaRPr lang="en-IN" sz="5400" dirty="0"/>
          </a:p>
        </p:txBody>
      </p:sp>
      <p:sp>
        <p:nvSpPr>
          <p:cNvPr id="9" name="Rectangle 6">
            <a:extLst>
              <a:ext uri="{FF2B5EF4-FFF2-40B4-BE49-F238E27FC236}">
                <a16:creationId xmlns:a16="http://schemas.microsoft.com/office/drawing/2014/main" id="{8C021BC8-BE99-E32B-9FB2-DF622A2E841D}"/>
              </a:ext>
            </a:extLst>
          </p:cNvPr>
          <p:cNvSpPr>
            <a:spLocks noGrp="1" noChangeArrowheads="1"/>
          </p:cNvSpPr>
          <p:nvPr>
            <p:ph type="body" idx="1"/>
          </p:nvPr>
        </p:nvSpPr>
        <p:spPr bwMode="auto">
          <a:xfrm>
            <a:off x="182881" y="1330042"/>
            <a:ext cx="1164336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12AFFD0-D694-C084-EDE6-23C6C1D2B2DD}"/>
              </a:ext>
            </a:extLst>
          </p:cNvPr>
          <p:cNvSpPr>
            <a:spLocks noChangeArrowheads="1"/>
          </p:cNvSpPr>
          <p:nvPr/>
        </p:nvSpPr>
        <p:spPr bwMode="auto">
          <a:xfrm>
            <a:off x="345441" y="929933"/>
            <a:ext cx="1131824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b="1" dirty="0">
                <a:latin typeface="Times New Roman" panose="02020603050405020304" pitchFamily="18" charset="0"/>
                <a:cs typeface="Times New Roman" panose="02020603050405020304" pitchFamily="18" charset="0"/>
              </a:rPr>
              <a:t>1. Descriptive Study</a:t>
            </a:r>
          </a:p>
          <a:p>
            <a:r>
              <a:rPr lang="en-US" sz="1800" dirty="0">
                <a:latin typeface="Times New Roman" panose="02020603050405020304" pitchFamily="18" charset="0"/>
                <a:cs typeface="Times New Roman" panose="02020603050405020304" pitchFamily="18" charset="0"/>
              </a:rPr>
              <a:t>To understand mental health challenges faced by women and youth</a:t>
            </a:r>
          </a:p>
          <a:p>
            <a:r>
              <a:rPr lang="en-US" sz="1800" dirty="0">
                <a:latin typeface="Times New Roman" panose="02020603050405020304" pitchFamily="18" charset="0"/>
                <a:cs typeface="Times New Roman" panose="02020603050405020304" pitchFamily="18" charset="0"/>
              </a:rPr>
              <a:t>To study user needs, concerns, and expectations from a digital mental health platform</a:t>
            </a:r>
          </a:p>
          <a:p>
            <a:r>
              <a:rPr lang="en-US" sz="1800" b="1" dirty="0">
                <a:latin typeface="Times New Roman" panose="02020603050405020304" pitchFamily="18" charset="0"/>
                <a:cs typeface="Times New Roman" panose="02020603050405020304" pitchFamily="18" charset="0"/>
              </a:rPr>
              <a:t>2. Observational Study</a:t>
            </a:r>
          </a:p>
          <a:p>
            <a:r>
              <a:rPr lang="en-US" sz="1800" dirty="0">
                <a:latin typeface="Times New Roman" panose="02020603050405020304" pitchFamily="18" charset="0"/>
                <a:cs typeface="Times New Roman" panose="02020603050405020304" pitchFamily="18" charset="0"/>
              </a:rPr>
              <a:t>To observe user interaction patterns with journaling and chatbot features</a:t>
            </a:r>
          </a:p>
          <a:p>
            <a:r>
              <a:rPr lang="en-US" sz="1800" dirty="0">
                <a:latin typeface="Times New Roman" panose="02020603050405020304" pitchFamily="18" charset="0"/>
                <a:cs typeface="Times New Roman" panose="02020603050405020304" pitchFamily="18" charset="0"/>
              </a:rPr>
              <a:t>To analyze emotional trends without direct intervention</a:t>
            </a:r>
          </a:p>
          <a:p>
            <a:r>
              <a:rPr lang="en-US" sz="1800" b="1" dirty="0">
                <a:latin typeface="Times New Roman" panose="02020603050405020304" pitchFamily="18" charset="0"/>
                <a:cs typeface="Times New Roman" panose="02020603050405020304" pitchFamily="18" charset="0"/>
              </a:rPr>
              <a:t>3. Exploratory Study</a:t>
            </a:r>
          </a:p>
          <a:p>
            <a:r>
              <a:rPr lang="en-US" sz="1800" dirty="0">
                <a:latin typeface="Times New Roman" panose="02020603050405020304" pitchFamily="18" charset="0"/>
                <a:cs typeface="Times New Roman" panose="02020603050405020304" pitchFamily="18" charset="0"/>
              </a:rPr>
              <a:t>To explore how AI-based journaling and emotional support can reduce stigma</a:t>
            </a:r>
          </a:p>
          <a:p>
            <a:r>
              <a:rPr lang="en-US" sz="1800" dirty="0">
                <a:latin typeface="Times New Roman" panose="02020603050405020304" pitchFamily="18" charset="0"/>
                <a:cs typeface="Times New Roman" panose="02020603050405020304" pitchFamily="18" charset="0"/>
              </a:rPr>
              <a:t>To identify gaps in existing digital mental health solutions</a:t>
            </a:r>
          </a:p>
          <a:p>
            <a:r>
              <a:rPr lang="en-US" sz="1800" b="1" dirty="0">
                <a:latin typeface="Times New Roman" panose="02020603050405020304" pitchFamily="18" charset="0"/>
                <a:cs typeface="Times New Roman" panose="02020603050405020304" pitchFamily="18" charset="0"/>
              </a:rPr>
              <a:t>4. Analytical Study</a:t>
            </a:r>
          </a:p>
          <a:p>
            <a:r>
              <a:rPr lang="en-US" sz="1800" dirty="0">
                <a:latin typeface="Times New Roman" panose="02020603050405020304" pitchFamily="18" charset="0"/>
                <a:cs typeface="Times New Roman" panose="02020603050405020304" pitchFamily="18" charset="0"/>
              </a:rPr>
              <a:t>To analyze emotional data from journals and feedback forms</a:t>
            </a:r>
          </a:p>
          <a:p>
            <a:r>
              <a:rPr lang="en-US" sz="1800" dirty="0">
                <a:latin typeface="Times New Roman" panose="02020603050405020304" pitchFamily="18" charset="0"/>
                <a:cs typeface="Times New Roman" panose="02020603050405020304" pitchFamily="18" charset="0"/>
              </a:rPr>
              <a:t>To evaluate changes in emotional states before and after therapy sessions</a:t>
            </a:r>
          </a:p>
          <a:p>
            <a:r>
              <a:rPr lang="en-US" sz="1800" b="1" dirty="0">
                <a:latin typeface="Times New Roman" panose="02020603050405020304" pitchFamily="18" charset="0"/>
                <a:cs typeface="Times New Roman" panose="02020603050405020304" pitchFamily="18" charset="0"/>
              </a:rPr>
              <a:t>5. User-Centered (Qualitative) Study</a:t>
            </a:r>
          </a:p>
          <a:p>
            <a:r>
              <a:rPr lang="en-US" sz="1800" dirty="0">
                <a:latin typeface="Times New Roman" panose="02020603050405020304" pitchFamily="18" charset="0"/>
                <a:cs typeface="Times New Roman" panose="02020603050405020304" pitchFamily="18" charset="0"/>
              </a:rPr>
              <a:t>To collect user feedback on usability, emotional comfort, and trust</a:t>
            </a:r>
          </a:p>
          <a:p>
            <a:r>
              <a:rPr lang="en-US" sz="1800" dirty="0">
                <a:latin typeface="Times New Roman" panose="02020603050405020304" pitchFamily="18" charset="0"/>
                <a:cs typeface="Times New Roman" panose="02020603050405020304" pitchFamily="18" charset="0"/>
              </a:rPr>
              <a:t>To understand user experience and acceptance of anonymity and AI support</a:t>
            </a:r>
          </a:p>
          <a:p>
            <a:r>
              <a:rPr lang="en-US" sz="1800" b="1" dirty="0">
                <a:latin typeface="Times New Roman" panose="02020603050405020304" pitchFamily="18" charset="0"/>
                <a:cs typeface="Times New Roman" panose="02020603050405020304" pitchFamily="18" charset="0"/>
              </a:rPr>
              <a:t>6. Pilot Study (Future Scope)</a:t>
            </a:r>
          </a:p>
          <a:p>
            <a:r>
              <a:rPr lang="en-US" sz="1800" dirty="0">
                <a:latin typeface="Times New Roman" panose="02020603050405020304" pitchFamily="18" charset="0"/>
                <a:cs typeface="Times New Roman" panose="02020603050405020304" pitchFamily="18" charset="0"/>
              </a:rPr>
              <a:t>To test the effectiveness of TENAWell on a small group before large-scale deployment</a:t>
            </a:r>
          </a:p>
        </p:txBody>
      </p:sp>
    </p:spTree>
    <p:extLst>
      <p:ext uri="{BB962C8B-B14F-4D97-AF65-F5344CB8AC3E}">
        <p14:creationId xmlns:p14="http://schemas.microsoft.com/office/powerpoint/2010/main" val="5714991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FE95D-59E0-BAA5-2056-45E3FE0FBA2F}"/>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F4912248-6926-72D0-245A-AB65B243E8E7}"/>
              </a:ext>
            </a:extLst>
          </p:cNvPr>
          <p:cNvSpPr txBox="1">
            <a:spLocks noGrp="1"/>
          </p:cNvSpPr>
          <p:nvPr>
            <p:ph type="title"/>
          </p:nvPr>
        </p:nvSpPr>
        <p:spPr>
          <a:xfrm>
            <a:off x="182881" y="264981"/>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2.1 Technology Stack - MERN </a:t>
            </a:r>
            <a:endParaRPr lang="en-IN" sz="5400" dirty="0"/>
          </a:p>
        </p:txBody>
      </p:sp>
      <p:sp>
        <p:nvSpPr>
          <p:cNvPr id="9" name="Rectangle 6">
            <a:extLst>
              <a:ext uri="{FF2B5EF4-FFF2-40B4-BE49-F238E27FC236}">
                <a16:creationId xmlns:a16="http://schemas.microsoft.com/office/drawing/2014/main" id="{6AEFE7FD-7C39-E60D-F424-DFF51DFEC3AF}"/>
              </a:ext>
            </a:extLst>
          </p:cNvPr>
          <p:cNvSpPr>
            <a:spLocks noGrp="1" noChangeArrowheads="1"/>
          </p:cNvSpPr>
          <p:nvPr>
            <p:ph type="body" idx="1"/>
          </p:nvPr>
        </p:nvSpPr>
        <p:spPr bwMode="auto">
          <a:xfrm>
            <a:off x="182881" y="1330042"/>
            <a:ext cx="1164336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A2037A6E-7D7B-DDC4-3272-CEEF15A8B4C4}"/>
              </a:ext>
            </a:extLst>
          </p:cNvPr>
          <p:cNvSpPr>
            <a:spLocks noChangeArrowheads="1"/>
          </p:cNvSpPr>
          <p:nvPr/>
        </p:nvSpPr>
        <p:spPr bwMode="auto">
          <a:xfrm>
            <a:off x="5958840" y="1003643"/>
            <a:ext cx="5821681"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800" b="1" dirty="0">
                <a:latin typeface="Times New Roman" panose="02020603050405020304" pitchFamily="18" charset="0"/>
                <a:cs typeface="Times New Roman" panose="02020603050405020304" pitchFamily="18" charset="0"/>
              </a:rPr>
              <a:t>Express.js</a:t>
            </a:r>
          </a:p>
          <a:p>
            <a:r>
              <a:rPr lang="en-IN" sz="1800" dirty="0">
                <a:latin typeface="Times New Roman" panose="02020603050405020304" pitchFamily="18" charset="0"/>
                <a:cs typeface="Times New Roman" panose="02020603050405020304" pitchFamily="18" charset="0"/>
              </a:rPr>
              <a:t>Lightweight backend framework for API development</a:t>
            </a:r>
          </a:p>
          <a:p>
            <a:r>
              <a:rPr lang="en-IN" sz="1800" dirty="0">
                <a:latin typeface="Times New Roman" panose="02020603050405020304" pitchFamily="18" charset="0"/>
                <a:cs typeface="Times New Roman" panose="02020603050405020304" pitchFamily="18" charset="0"/>
              </a:rPr>
              <a:t>Manages user authentication and data flow</a:t>
            </a:r>
          </a:p>
          <a:p>
            <a:r>
              <a:rPr lang="en-IN" sz="1800" dirty="0">
                <a:latin typeface="Times New Roman" panose="02020603050405020304" pitchFamily="18" charset="0"/>
                <a:cs typeface="Times New Roman" panose="02020603050405020304" pitchFamily="18" charset="0"/>
              </a:rPr>
              <a:t>Handles secure communication between frontend and database</a:t>
            </a:r>
          </a:p>
          <a:p>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Node.js</a:t>
            </a:r>
          </a:p>
          <a:p>
            <a:r>
              <a:rPr lang="en-IN" sz="1800" dirty="0">
                <a:latin typeface="Times New Roman" panose="02020603050405020304" pitchFamily="18" charset="0"/>
                <a:cs typeface="Times New Roman" panose="02020603050405020304" pitchFamily="18" charset="0"/>
              </a:rPr>
              <a:t>Asynchronous, non-blocking request handling</a:t>
            </a:r>
          </a:p>
          <a:p>
            <a:r>
              <a:rPr lang="en-IN" sz="1800" dirty="0">
                <a:latin typeface="Times New Roman" panose="02020603050405020304" pitchFamily="18" charset="0"/>
                <a:cs typeface="Times New Roman" panose="02020603050405020304" pitchFamily="18" charset="0"/>
              </a:rPr>
              <a:t>Supports real-time chatbot and scheduling features</a:t>
            </a:r>
          </a:p>
          <a:p>
            <a:r>
              <a:rPr lang="en-IN" sz="1800" dirty="0">
                <a:latin typeface="Times New Roman" panose="02020603050405020304" pitchFamily="18" charset="0"/>
                <a:cs typeface="Times New Roman" panose="02020603050405020304" pitchFamily="18" charset="0"/>
              </a:rPr>
              <a:t>Ensures high performance for concurrent users</a:t>
            </a:r>
          </a:p>
          <a:p>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9CABF634-E524-EFE0-2F1A-40803EDF4951}"/>
              </a:ext>
            </a:extLst>
          </p:cNvPr>
          <p:cNvSpPr>
            <a:spLocks noChangeArrowheads="1"/>
          </p:cNvSpPr>
          <p:nvPr/>
        </p:nvSpPr>
        <p:spPr bwMode="auto">
          <a:xfrm>
            <a:off x="274319" y="1142143"/>
            <a:ext cx="5821681"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800" b="1" dirty="0">
                <a:latin typeface="Times New Roman" panose="02020603050405020304" pitchFamily="18" charset="0"/>
                <a:cs typeface="Times New Roman" panose="02020603050405020304" pitchFamily="18" charset="0"/>
              </a:rPr>
              <a:t>MongoDB</a:t>
            </a:r>
          </a:p>
          <a:p>
            <a:r>
              <a:rPr lang="en-IN" sz="1800" dirty="0">
                <a:latin typeface="Times New Roman" panose="02020603050405020304" pitchFamily="18" charset="0"/>
                <a:cs typeface="Times New Roman" panose="02020603050405020304" pitchFamily="18" charset="0"/>
              </a:rPr>
              <a:t>Flexible, document-based storage for journals and reports</a:t>
            </a:r>
          </a:p>
          <a:p>
            <a:r>
              <a:rPr lang="en-IN" sz="1800" dirty="0">
                <a:latin typeface="Times New Roman" panose="02020603050405020304" pitchFamily="18" charset="0"/>
                <a:cs typeface="Times New Roman" panose="02020603050405020304" pitchFamily="18" charset="0"/>
              </a:rPr>
              <a:t>Supports large volumes of unstructured emotional data</a:t>
            </a:r>
          </a:p>
          <a:p>
            <a:r>
              <a:rPr lang="en-IN" sz="1800" dirty="0">
                <a:latin typeface="Times New Roman" panose="02020603050405020304" pitchFamily="18" charset="0"/>
                <a:cs typeface="Times New Roman" panose="02020603050405020304" pitchFamily="18" charset="0"/>
              </a:rPr>
              <a:t>Enables easy scalability and fast data retrieval</a:t>
            </a:r>
          </a:p>
          <a:p>
            <a:endParaRPr lang="en-IN" sz="1800" b="1"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React</a:t>
            </a:r>
          </a:p>
          <a:p>
            <a:r>
              <a:rPr lang="en-IN" sz="1800" dirty="0">
                <a:latin typeface="Times New Roman" panose="02020603050405020304" pitchFamily="18" charset="0"/>
                <a:cs typeface="Times New Roman" panose="02020603050405020304" pitchFamily="18" charset="0"/>
              </a:rPr>
              <a:t>Enables clean, reusable UI components , Supports Dynamic</a:t>
            </a:r>
          </a:p>
          <a:p>
            <a:r>
              <a:rPr lang="en-IN" sz="1800" dirty="0">
                <a:latin typeface="Times New Roman" panose="02020603050405020304" pitchFamily="18" charset="0"/>
                <a:cs typeface="Times New Roman" panose="02020603050405020304" pitchFamily="18" charset="0"/>
              </a:rPr>
              <a:t>Data rendering and responsiveness and Allows separate interfaces for Users and Doctors </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Additional Tools</a:t>
            </a:r>
          </a:p>
          <a:p>
            <a:r>
              <a:rPr lang="en-IN" sz="1800" b="1" dirty="0">
                <a:latin typeface="Times New Roman" panose="02020603050405020304" pitchFamily="18" charset="0"/>
                <a:cs typeface="Times New Roman" panose="02020603050405020304" pitchFamily="18" charset="0"/>
              </a:rPr>
              <a:t>Git:</a:t>
            </a:r>
            <a:r>
              <a:rPr lang="en-IN" sz="1800" dirty="0">
                <a:latin typeface="Times New Roman" panose="02020603050405020304" pitchFamily="18" charset="0"/>
                <a:cs typeface="Times New Roman" panose="02020603050405020304" pitchFamily="18" charset="0"/>
              </a:rPr>
              <a:t> Version control and team collaboration</a:t>
            </a:r>
          </a:p>
          <a:p>
            <a:r>
              <a:rPr lang="en-IN" sz="1800" b="1" dirty="0">
                <a:latin typeface="Times New Roman" panose="02020603050405020304" pitchFamily="18" charset="0"/>
                <a:cs typeface="Times New Roman" panose="02020603050405020304" pitchFamily="18" charset="0"/>
              </a:rPr>
              <a:t>Docker:</a:t>
            </a:r>
            <a:r>
              <a:rPr lang="en-IN" sz="1800" dirty="0">
                <a:latin typeface="Times New Roman" panose="02020603050405020304" pitchFamily="18" charset="0"/>
                <a:cs typeface="Times New Roman" panose="02020603050405020304" pitchFamily="18" charset="0"/>
              </a:rPr>
              <a:t> Consistent deployment across environments</a:t>
            </a:r>
          </a:p>
          <a:p>
            <a:r>
              <a:rPr lang="en-IN" sz="1800" b="1" dirty="0">
                <a:latin typeface="Times New Roman" panose="02020603050405020304" pitchFamily="18" charset="0"/>
                <a:cs typeface="Times New Roman" panose="02020603050405020304" pitchFamily="18" charset="0"/>
              </a:rPr>
              <a:t>AWS:</a:t>
            </a:r>
            <a:r>
              <a:rPr lang="en-IN" sz="1800" dirty="0">
                <a:latin typeface="Times New Roman" panose="02020603050405020304" pitchFamily="18" charset="0"/>
                <a:cs typeface="Times New Roman" panose="02020603050405020304" pitchFamily="18" charset="0"/>
              </a:rPr>
              <a:t> Cloud hosting, scalability, and secure storage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0485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EF104-7E1A-94A9-DE8E-13E9E9EC886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BE623C2-9F20-7611-47CC-CC06EE75EDFD}"/>
              </a:ext>
            </a:extLst>
          </p:cNvPr>
          <p:cNvSpPr>
            <a:spLocks noGrp="1"/>
          </p:cNvSpPr>
          <p:nvPr>
            <p:ph type="body" idx="1"/>
          </p:nvPr>
        </p:nvSpPr>
        <p:spPr>
          <a:xfrm>
            <a:off x="462280" y="811884"/>
            <a:ext cx="6781800" cy="5253636"/>
          </a:xfrm>
        </p:spPr>
        <p:txBody>
          <a:bodyPr>
            <a:noAutofit/>
          </a:bodyPr>
          <a:lstStyle/>
          <a:p>
            <a:pPr marL="50800" indent="0">
              <a:buNone/>
            </a:pPr>
            <a:r>
              <a:rPr lang="en-IN" sz="1600" b="1" dirty="0">
                <a:latin typeface="Times New Roman" panose="02020603050405020304" pitchFamily="18" charset="0"/>
                <a:cs typeface="Times New Roman" panose="02020603050405020304" pitchFamily="18" charset="0"/>
              </a:rPr>
              <a:t>High-Level Architecture</a:t>
            </a:r>
          </a:p>
          <a:p>
            <a:r>
              <a:rPr lang="en-IN" sz="1600" dirty="0">
                <a:latin typeface="Times New Roman" panose="02020603050405020304" pitchFamily="18" charset="0"/>
                <a:cs typeface="Times New Roman" panose="02020603050405020304" pitchFamily="18" charset="0"/>
              </a:rPr>
              <a:t>User Interface (Angular) for women/youth and doctors</a:t>
            </a:r>
          </a:p>
          <a:p>
            <a:r>
              <a:rPr lang="en-IN" sz="1600" dirty="0">
                <a:latin typeface="Times New Roman" panose="02020603050405020304" pitchFamily="18" charset="0"/>
                <a:cs typeface="Times New Roman" panose="02020603050405020304" pitchFamily="18" charset="0"/>
              </a:rPr>
              <a:t>Backend Server (Node.js + Express.js) for business logic</a:t>
            </a:r>
          </a:p>
          <a:p>
            <a:r>
              <a:rPr lang="en-IN" sz="1600" dirty="0">
                <a:latin typeface="Times New Roman" panose="02020603050405020304" pitchFamily="18" charset="0"/>
                <a:cs typeface="Times New Roman" panose="02020603050405020304" pitchFamily="18" charset="0"/>
              </a:rPr>
              <a:t>AI Services for emotion analysis and chatbot support</a:t>
            </a:r>
          </a:p>
          <a:p>
            <a:r>
              <a:rPr lang="en-IN" sz="1600" dirty="0">
                <a:latin typeface="Times New Roman" panose="02020603050405020304" pitchFamily="18" charset="0"/>
                <a:cs typeface="Times New Roman" panose="02020603050405020304" pitchFamily="18" charset="0"/>
              </a:rPr>
              <a:t>Database (MongoDB) for storing journals, reports, and user data</a:t>
            </a:r>
          </a:p>
          <a:p>
            <a:r>
              <a:rPr lang="en-IN" sz="1600" dirty="0">
                <a:latin typeface="Times New Roman" panose="02020603050405020304" pitchFamily="18" charset="0"/>
                <a:cs typeface="Times New Roman" panose="02020603050405020304" pitchFamily="18" charset="0"/>
              </a:rPr>
              <a:t>Cloud Infrastructure (AWS) for hosting and scalability</a:t>
            </a:r>
          </a:p>
          <a:p>
            <a:pPr marL="50800" indent="0">
              <a:buNone/>
            </a:pPr>
            <a:r>
              <a:rPr lang="en-IN" sz="1600" b="1" dirty="0">
                <a:latin typeface="Times New Roman" panose="02020603050405020304" pitchFamily="18" charset="0"/>
                <a:cs typeface="Times New Roman" panose="02020603050405020304" pitchFamily="18" charset="0"/>
              </a:rPr>
              <a:t>API Flow</a:t>
            </a:r>
          </a:p>
          <a:p>
            <a:r>
              <a:rPr lang="en-IN" sz="1600" dirty="0">
                <a:latin typeface="Times New Roman" panose="02020603050405020304" pitchFamily="18" charset="0"/>
                <a:cs typeface="Times New Roman" panose="02020603050405020304" pitchFamily="18" charset="0"/>
              </a:rPr>
              <a:t>User actions (journaling, chatbot interaction, scheduling) are sent as API requests</a:t>
            </a:r>
          </a:p>
          <a:p>
            <a:r>
              <a:rPr lang="en-IN" sz="1600" dirty="0">
                <a:latin typeface="Times New Roman" panose="02020603050405020304" pitchFamily="18" charset="0"/>
                <a:cs typeface="Times New Roman" panose="02020603050405020304" pitchFamily="18" charset="0"/>
              </a:rPr>
              <a:t>Express.js APIs handle authentication, consent checks, and routing</a:t>
            </a:r>
          </a:p>
          <a:p>
            <a:r>
              <a:rPr lang="en-IN" sz="1600" dirty="0">
                <a:latin typeface="Times New Roman" panose="02020603050405020304" pitchFamily="18" charset="0"/>
                <a:cs typeface="Times New Roman" panose="02020603050405020304" pitchFamily="18" charset="0"/>
              </a:rPr>
              <a:t>AI services process text for emotion analysis and chatbot responses</a:t>
            </a:r>
          </a:p>
          <a:p>
            <a:r>
              <a:rPr lang="en-IN" sz="1600" dirty="0">
                <a:latin typeface="Times New Roman" panose="02020603050405020304" pitchFamily="18" charset="0"/>
                <a:cs typeface="Times New Roman" panose="02020603050405020304" pitchFamily="18" charset="0"/>
              </a:rPr>
              <a:t>Processed data is stored or retrieved from MongoDB</a:t>
            </a:r>
          </a:p>
          <a:p>
            <a:r>
              <a:rPr lang="en-IN" sz="1600" dirty="0">
                <a:latin typeface="Times New Roman" panose="02020603050405020304" pitchFamily="18" charset="0"/>
                <a:cs typeface="Times New Roman" panose="02020603050405020304" pitchFamily="18" charset="0"/>
              </a:rPr>
              <a:t>Final response is sent back to the frontend interface</a:t>
            </a:r>
          </a:p>
          <a:p>
            <a:pPr marL="50800" indent="0">
              <a:buNone/>
            </a:pPr>
            <a:endParaRPr lang="en-US" sz="1600" b="1" dirty="0">
              <a:latin typeface="Times New Roman" panose="02020603050405020304" pitchFamily="18" charset="0"/>
              <a:cs typeface="Times New Roman" panose="02020603050405020304" pitchFamily="18" charset="0"/>
            </a:endParaRPr>
          </a:p>
        </p:txBody>
      </p:sp>
      <p:sp>
        <p:nvSpPr>
          <p:cNvPr id="5" name="Google Shape;1035;p46">
            <a:extLst>
              <a:ext uri="{FF2B5EF4-FFF2-40B4-BE49-F238E27FC236}">
                <a16:creationId xmlns:a16="http://schemas.microsoft.com/office/drawing/2014/main" id="{7A753C47-39BA-F005-78C1-A9F8AA7BCE59}"/>
              </a:ext>
            </a:extLst>
          </p:cNvPr>
          <p:cNvSpPr txBox="1">
            <a:spLocks noGrp="1"/>
          </p:cNvSpPr>
          <p:nvPr>
            <p:ph type="title"/>
          </p:nvPr>
        </p:nvSpPr>
        <p:spPr>
          <a:xfrm>
            <a:off x="331501" y="223204"/>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3.System Architecture</a:t>
            </a:r>
            <a:endParaRPr lang="en-IN" sz="5400" dirty="0"/>
          </a:p>
        </p:txBody>
      </p:sp>
      <p:sp>
        <p:nvSpPr>
          <p:cNvPr id="4" name="TextBox 3">
            <a:extLst>
              <a:ext uri="{FF2B5EF4-FFF2-40B4-BE49-F238E27FC236}">
                <a16:creationId xmlns:a16="http://schemas.microsoft.com/office/drawing/2014/main" id="{404388C9-96AF-7E1B-B2C7-6565C01E00B8}"/>
              </a:ext>
            </a:extLst>
          </p:cNvPr>
          <p:cNvSpPr txBox="1"/>
          <p:nvPr/>
        </p:nvSpPr>
        <p:spPr>
          <a:xfrm>
            <a:off x="6979920" y="811884"/>
            <a:ext cx="5008880" cy="3077766"/>
          </a:xfrm>
          <a:prstGeom prst="rect">
            <a:avLst/>
          </a:prstGeom>
          <a:noFill/>
        </p:spPr>
        <p:txBody>
          <a:bodyPr wrap="square">
            <a:spAutoFit/>
          </a:bodyPr>
          <a:lstStyle/>
          <a:p>
            <a:pPr marL="50800" indent="0">
              <a:buNone/>
            </a:pPr>
            <a:r>
              <a:rPr lang="en-IN" sz="1800" b="1" dirty="0">
                <a:latin typeface="Times New Roman" panose="02020603050405020304" pitchFamily="18" charset="0"/>
                <a:cs typeface="Times New Roman" panose="02020603050405020304" pitchFamily="18" charset="0"/>
              </a:rPr>
              <a:t>Database Structure (MongoDB)</a:t>
            </a:r>
          </a:p>
          <a:p>
            <a:r>
              <a:rPr lang="en-IN" sz="1600" b="1" dirty="0">
                <a:latin typeface="Times New Roman" panose="02020603050405020304" pitchFamily="18" charset="0"/>
                <a:cs typeface="Times New Roman" panose="02020603050405020304" pitchFamily="18" charset="0"/>
              </a:rPr>
              <a:t>Users Collection:</a:t>
            </a:r>
            <a:r>
              <a:rPr lang="en-IN" sz="1600" dirty="0">
                <a:latin typeface="Times New Roman" panose="02020603050405020304" pitchFamily="18" charset="0"/>
                <a:cs typeface="Times New Roman" panose="02020603050405020304" pitchFamily="18" charset="0"/>
              </a:rPr>
              <a:t> Anonymous/consent-based user profiles</a:t>
            </a:r>
          </a:p>
          <a:p>
            <a:r>
              <a:rPr lang="en-IN" sz="1600" b="1" dirty="0">
                <a:latin typeface="Times New Roman" panose="02020603050405020304" pitchFamily="18" charset="0"/>
                <a:cs typeface="Times New Roman" panose="02020603050405020304" pitchFamily="18" charset="0"/>
              </a:rPr>
              <a:t>Journals Collection:</a:t>
            </a:r>
            <a:r>
              <a:rPr lang="en-IN" sz="1600" dirty="0">
                <a:latin typeface="Times New Roman" panose="02020603050405020304" pitchFamily="18" charset="0"/>
                <a:cs typeface="Times New Roman" panose="02020603050405020304" pitchFamily="18" charset="0"/>
              </a:rPr>
              <a:t> User journal entries with timestamps</a:t>
            </a:r>
          </a:p>
          <a:p>
            <a:r>
              <a:rPr lang="en-IN" sz="1600" b="1" dirty="0">
                <a:latin typeface="Times New Roman" panose="02020603050405020304" pitchFamily="18" charset="0"/>
                <a:cs typeface="Times New Roman" panose="02020603050405020304" pitchFamily="18" charset="0"/>
              </a:rPr>
              <a:t>Reports Collection:</a:t>
            </a:r>
            <a:r>
              <a:rPr lang="en-IN" sz="1600" dirty="0">
                <a:latin typeface="Times New Roman" panose="02020603050405020304" pitchFamily="18" charset="0"/>
                <a:cs typeface="Times New Roman" panose="02020603050405020304" pitchFamily="18" charset="0"/>
              </a:rPr>
              <a:t> Emotional trend and progress reports</a:t>
            </a:r>
          </a:p>
          <a:p>
            <a:r>
              <a:rPr lang="en-IN" sz="1600" b="1" dirty="0">
                <a:latin typeface="Times New Roman" panose="02020603050405020304" pitchFamily="18" charset="0"/>
                <a:cs typeface="Times New Roman" panose="02020603050405020304" pitchFamily="18" charset="0"/>
              </a:rPr>
              <a:t>Therapy Sessions Collection:</a:t>
            </a:r>
            <a:r>
              <a:rPr lang="en-IN" sz="1600" dirty="0">
                <a:latin typeface="Times New Roman" panose="02020603050405020304" pitchFamily="18" charset="0"/>
                <a:cs typeface="Times New Roman" panose="02020603050405020304" pitchFamily="18" charset="0"/>
              </a:rPr>
              <a:t> Scheduled session details</a:t>
            </a:r>
          </a:p>
          <a:p>
            <a:r>
              <a:rPr lang="en-IN" sz="1600" b="1" dirty="0">
                <a:latin typeface="Times New Roman" panose="02020603050405020304" pitchFamily="18" charset="0"/>
                <a:cs typeface="Times New Roman" panose="02020603050405020304" pitchFamily="18" charset="0"/>
              </a:rPr>
              <a:t>Doctor Feedback Collection:</a:t>
            </a:r>
            <a:r>
              <a:rPr lang="en-IN" sz="1600" dirty="0">
                <a:latin typeface="Times New Roman" panose="02020603050405020304" pitchFamily="18" charset="0"/>
                <a:cs typeface="Times New Roman" panose="02020603050405020304" pitchFamily="18" charset="0"/>
              </a:rPr>
              <a:t> Notes and observations (with consent)</a:t>
            </a:r>
          </a:p>
          <a:p>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Flow:</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User/Doctor → Frontend → Backend APIs → AI Services / Database → Response to Frontend</a:t>
            </a: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2002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1F99E-FA7C-D92F-9FBF-F22782858871}"/>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4A37EC04-7C70-541E-D23E-FC3E91433B11}"/>
              </a:ext>
            </a:extLst>
          </p:cNvPr>
          <p:cNvSpPr txBox="1">
            <a:spLocks noGrp="1"/>
          </p:cNvSpPr>
          <p:nvPr>
            <p:ph type="title"/>
          </p:nvPr>
        </p:nvSpPr>
        <p:spPr>
          <a:xfrm>
            <a:off x="182881" y="264981"/>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sz="5400" b="1" i="1" dirty="0">
                <a:solidFill>
                  <a:srgbClr val="C00000"/>
                </a:solidFill>
                <a:latin typeface="Times New Roman"/>
                <a:cs typeface="Times New Roman"/>
                <a:sym typeface="Times New Roman"/>
              </a:rPr>
              <a:t>Comparison with similar products</a:t>
            </a:r>
            <a:endParaRPr lang="en-IN" sz="5400" dirty="0"/>
          </a:p>
        </p:txBody>
      </p:sp>
      <p:sp>
        <p:nvSpPr>
          <p:cNvPr id="9" name="Rectangle 6">
            <a:extLst>
              <a:ext uri="{FF2B5EF4-FFF2-40B4-BE49-F238E27FC236}">
                <a16:creationId xmlns:a16="http://schemas.microsoft.com/office/drawing/2014/main" id="{FA55EFA1-66E0-400F-37A2-C3DE458CB2CC}"/>
              </a:ext>
            </a:extLst>
          </p:cNvPr>
          <p:cNvSpPr>
            <a:spLocks noGrp="1" noChangeArrowheads="1"/>
          </p:cNvSpPr>
          <p:nvPr>
            <p:ph type="body" idx="1"/>
          </p:nvPr>
        </p:nvSpPr>
        <p:spPr bwMode="auto">
          <a:xfrm>
            <a:off x="182881" y="1330042"/>
            <a:ext cx="1164336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7" name="Picture 6" descr="A screenshot of a computer&#10;&#10;AI-generated content may be incorrect.">
            <a:extLst>
              <a:ext uri="{FF2B5EF4-FFF2-40B4-BE49-F238E27FC236}">
                <a16:creationId xmlns:a16="http://schemas.microsoft.com/office/drawing/2014/main" id="{A57CDF07-07F2-5B11-7618-A5B0B0847B8C}"/>
              </a:ext>
            </a:extLst>
          </p:cNvPr>
          <p:cNvPicPr>
            <a:picLocks noChangeAspect="1"/>
          </p:cNvPicPr>
          <p:nvPr/>
        </p:nvPicPr>
        <p:blipFill>
          <a:blip r:embed="rId2"/>
          <a:stretch>
            <a:fillRect/>
          </a:stretch>
        </p:blipFill>
        <p:spPr>
          <a:xfrm>
            <a:off x="361149" y="1176023"/>
            <a:ext cx="11469701" cy="4505954"/>
          </a:xfrm>
          <a:prstGeom prst="rect">
            <a:avLst/>
          </a:prstGeom>
        </p:spPr>
      </p:pic>
    </p:spTree>
    <p:extLst>
      <p:ext uri="{BB962C8B-B14F-4D97-AF65-F5344CB8AC3E}">
        <p14:creationId xmlns:p14="http://schemas.microsoft.com/office/powerpoint/2010/main" val="34476252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54050CA-EE3D-0C17-496E-67B54C1CFA15}"/>
              </a:ext>
            </a:extLst>
          </p:cNvPr>
          <p:cNvSpPr>
            <a:spLocks noGrp="1"/>
          </p:cNvSpPr>
          <p:nvPr>
            <p:ph type="body" idx="1"/>
          </p:nvPr>
        </p:nvSpPr>
        <p:spPr>
          <a:xfrm>
            <a:off x="111760" y="538936"/>
            <a:ext cx="12537439" cy="5679440"/>
          </a:xfrm>
        </p:spPr>
        <p:txBody>
          <a:bodyPr>
            <a:noAutofit/>
          </a:bodyPr>
          <a:lstStyle/>
          <a:p>
            <a:pPr marL="50800" indent="0">
              <a:lnSpc>
                <a:spcPct val="50000"/>
              </a:lnSpc>
              <a:buNone/>
            </a:pPr>
            <a:r>
              <a:rPr lang="en-US" sz="1800" b="1" dirty="0">
                <a:latin typeface="Times New Roman" panose="02020603050405020304" pitchFamily="18" charset="0"/>
                <a:cs typeface="Times New Roman" panose="02020603050405020304" pitchFamily="18" charset="0"/>
              </a:rPr>
              <a:t>Why this project is suitable for Hackathon / Industry</a:t>
            </a:r>
          </a:p>
          <a:p>
            <a:pPr marL="50800" indent="0">
              <a:lnSpc>
                <a:spcPct val="50000"/>
              </a:lnSpc>
              <a:buNone/>
            </a:pPr>
            <a:endParaRPr lang="en-US" sz="1600" b="1" dirty="0">
              <a:latin typeface="Times New Roman" panose="02020603050405020304" pitchFamily="18" charset="0"/>
              <a:cs typeface="Times New Roman" panose="02020603050405020304" pitchFamily="18" charset="0"/>
            </a:endParaRPr>
          </a:p>
          <a:p>
            <a:pPr>
              <a:lnSpc>
                <a:spcPct val="50000"/>
              </a:lnSpc>
            </a:pPr>
            <a:r>
              <a:rPr lang="en-US" sz="1600" dirty="0">
                <a:latin typeface="Times New Roman" panose="02020603050405020304" pitchFamily="18" charset="0"/>
                <a:cs typeface="Times New Roman" panose="02020603050405020304" pitchFamily="18" charset="0"/>
              </a:rPr>
              <a:t>Addresses a </a:t>
            </a:r>
            <a:r>
              <a:rPr lang="en-US" sz="1600" b="1" dirty="0">
                <a:latin typeface="Times New Roman" panose="02020603050405020304" pitchFamily="18" charset="0"/>
                <a:cs typeface="Times New Roman" panose="02020603050405020304" pitchFamily="18" charset="0"/>
              </a:rPr>
              <a:t>real-world, socially relevant problem</a:t>
            </a:r>
            <a:r>
              <a:rPr lang="en-US" sz="1600" dirty="0">
                <a:latin typeface="Times New Roman" panose="02020603050405020304" pitchFamily="18" charset="0"/>
                <a:cs typeface="Times New Roman" panose="02020603050405020304" pitchFamily="18" charset="0"/>
              </a:rPr>
              <a:t>: mental health access for women and youth</a:t>
            </a:r>
          </a:p>
          <a:p>
            <a:pPr>
              <a:lnSpc>
                <a:spcPct val="50000"/>
              </a:lnSpc>
            </a:pPr>
            <a:r>
              <a:rPr lang="en-US" sz="1600" dirty="0">
                <a:latin typeface="Times New Roman" panose="02020603050405020304" pitchFamily="18" charset="0"/>
                <a:cs typeface="Times New Roman" panose="02020603050405020304" pitchFamily="18" charset="0"/>
              </a:rPr>
              <a:t>Combines </a:t>
            </a:r>
            <a:r>
              <a:rPr lang="en-US" sz="1600" b="1" dirty="0">
                <a:latin typeface="Times New Roman" panose="02020603050405020304" pitchFamily="18" charset="0"/>
                <a:cs typeface="Times New Roman" panose="02020603050405020304" pitchFamily="18" charset="0"/>
              </a:rPr>
              <a:t>technology + healthcare + social impact</a:t>
            </a:r>
            <a:r>
              <a:rPr lang="en-US" sz="1600" dirty="0">
                <a:latin typeface="Times New Roman" panose="02020603050405020304" pitchFamily="18" charset="0"/>
                <a:cs typeface="Times New Roman" panose="02020603050405020304" pitchFamily="18" charset="0"/>
              </a:rPr>
              <a:t>, which aligns well with hackathon and industry innovation goals</a:t>
            </a:r>
          </a:p>
          <a:p>
            <a:pPr>
              <a:lnSpc>
                <a:spcPct val="50000"/>
              </a:lnSpc>
            </a:pPr>
            <a:r>
              <a:rPr lang="en-US" sz="1600" dirty="0">
                <a:latin typeface="Times New Roman" panose="02020603050405020304" pitchFamily="18" charset="0"/>
                <a:cs typeface="Times New Roman" panose="02020603050405020304" pitchFamily="18" charset="0"/>
              </a:rPr>
              <a:t>Scalable digital solution that can be adapted for different communities and regions</a:t>
            </a:r>
          </a:p>
          <a:p>
            <a:pPr>
              <a:lnSpc>
                <a:spcPct val="50000"/>
              </a:lnSpc>
            </a:pPr>
            <a:r>
              <a:rPr lang="en-US" sz="1600" dirty="0">
                <a:latin typeface="Times New Roman" panose="02020603050405020304" pitchFamily="18" charset="0"/>
                <a:cs typeface="Times New Roman" panose="02020603050405020304" pitchFamily="18" charset="0"/>
              </a:rPr>
              <a:t>Focuses on </a:t>
            </a:r>
            <a:r>
              <a:rPr lang="en-US" sz="1600" b="1" dirty="0">
                <a:latin typeface="Times New Roman" panose="02020603050405020304" pitchFamily="18" charset="0"/>
                <a:cs typeface="Times New Roman" panose="02020603050405020304" pitchFamily="18" charset="0"/>
              </a:rPr>
              <a:t>privacy, ethics, and user consent</a:t>
            </a:r>
            <a:r>
              <a:rPr lang="en-US" sz="1600" dirty="0">
                <a:latin typeface="Times New Roman" panose="02020603050405020304" pitchFamily="18" charset="0"/>
                <a:cs typeface="Times New Roman" panose="02020603050405020304" pitchFamily="18" charset="0"/>
              </a:rPr>
              <a:t>, which are critical industry concerns in mental health tech</a:t>
            </a:r>
          </a:p>
          <a:p>
            <a:pPr marL="50800" indent="0">
              <a:lnSpc>
                <a:spcPct val="50000"/>
              </a:lnSpc>
              <a:buNone/>
            </a:pPr>
            <a:endParaRPr lang="en-US" sz="1800" dirty="0">
              <a:latin typeface="Times New Roman" panose="02020603050405020304" pitchFamily="18" charset="0"/>
              <a:cs typeface="Times New Roman" panose="02020603050405020304" pitchFamily="18" charset="0"/>
            </a:endParaRPr>
          </a:p>
          <a:p>
            <a:pPr marL="50800" indent="0">
              <a:lnSpc>
                <a:spcPct val="50000"/>
              </a:lnSpc>
              <a:buNone/>
            </a:pPr>
            <a:r>
              <a:rPr lang="en-US" sz="1800" b="1" dirty="0">
                <a:latin typeface="Times New Roman" panose="02020603050405020304" pitchFamily="18" charset="0"/>
                <a:cs typeface="Times New Roman" panose="02020603050405020304" pitchFamily="18" charset="0"/>
              </a:rPr>
              <a:t>Novelty in the Project</a:t>
            </a:r>
          </a:p>
          <a:p>
            <a:pPr marL="50800" indent="0">
              <a:lnSpc>
                <a:spcPct val="50000"/>
              </a:lnSpc>
              <a:buNone/>
            </a:pPr>
            <a:endParaRPr lang="en-US" sz="1800" b="1" dirty="0">
              <a:latin typeface="Times New Roman" panose="02020603050405020304" pitchFamily="18" charset="0"/>
              <a:cs typeface="Times New Roman" panose="02020603050405020304" pitchFamily="18" charset="0"/>
            </a:endParaRPr>
          </a:p>
          <a:p>
            <a:pPr>
              <a:lnSpc>
                <a:spcPct val="50000"/>
              </a:lnSpc>
            </a:pPr>
            <a:r>
              <a:rPr lang="en-US" sz="1600" b="1" dirty="0">
                <a:latin typeface="Times New Roman" panose="02020603050405020304" pitchFamily="18" charset="0"/>
                <a:cs typeface="Times New Roman" panose="02020603050405020304" pitchFamily="18" charset="0"/>
              </a:rPr>
              <a:t>Anonymous-first mental health support</a:t>
            </a:r>
            <a:r>
              <a:rPr lang="en-US" sz="1600" dirty="0">
                <a:latin typeface="Times New Roman" panose="02020603050405020304" pitchFamily="18" charset="0"/>
                <a:cs typeface="Times New Roman" panose="02020603050405020304" pitchFamily="18" charset="0"/>
              </a:rPr>
              <a:t> with optional identity disclosure</a:t>
            </a:r>
          </a:p>
          <a:p>
            <a:pPr>
              <a:lnSpc>
                <a:spcPct val="50000"/>
              </a:lnSpc>
            </a:pPr>
            <a:r>
              <a:rPr lang="en-US" sz="1600" dirty="0">
                <a:latin typeface="Times New Roman" panose="02020603050405020304" pitchFamily="18" charset="0"/>
                <a:cs typeface="Times New Roman" panose="02020603050405020304" pitchFamily="18" charset="0"/>
              </a:rPr>
              <a:t>Integration of </a:t>
            </a:r>
            <a:r>
              <a:rPr lang="en-US" sz="1600" b="1" dirty="0">
                <a:latin typeface="Times New Roman" panose="02020603050405020304" pitchFamily="18" charset="0"/>
                <a:cs typeface="Times New Roman" panose="02020603050405020304" pitchFamily="18" charset="0"/>
              </a:rPr>
              <a:t>journaling + AI emotional analysis + doctor progress tracking</a:t>
            </a:r>
            <a:r>
              <a:rPr lang="en-US" sz="1600" dirty="0">
                <a:latin typeface="Times New Roman" panose="02020603050405020304" pitchFamily="18" charset="0"/>
                <a:cs typeface="Times New Roman" panose="02020603050405020304" pitchFamily="18" charset="0"/>
              </a:rPr>
              <a:t> in one platform</a:t>
            </a:r>
          </a:p>
          <a:p>
            <a:pPr>
              <a:lnSpc>
                <a:spcPct val="50000"/>
              </a:lnSpc>
            </a:pPr>
            <a:r>
              <a:rPr lang="en-US" sz="1600" dirty="0">
                <a:latin typeface="Times New Roman" panose="02020603050405020304" pitchFamily="18" charset="0"/>
                <a:cs typeface="Times New Roman" panose="02020603050405020304" pitchFamily="18" charset="0"/>
              </a:rPr>
              <a:t>Emotionally supportive chatbot that does not over-medicalize user concerns</a:t>
            </a:r>
          </a:p>
          <a:p>
            <a:pPr>
              <a:lnSpc>
                <a:spcPct val="50000"/>
              </a:lnSpc>
            </a:pPr>
            <a:r>
              <a:rPr lang="en-US" sz="1600" dirty="0">
                <a:latin typeface="Times New Roman" panose="02020603050405020304" pitchFamily="18" charset="0"/>
                <a:cs typeface="Times New Roman" panose="02020603050405020304" pitchFamily="18" charset="0"/>
              </a:rPr>
              <a:t>Consent-based data sharing between users and doctors</a:t>
            </a:r>
          </a:p>
          <a:p>
            <a:pPr>
              <a:lnSpc>
                <a:spcPct val="50000"/>
              </a:lnSpc>
            </a:pPr>
            <a:r>
              <a:rPr lang="en-US" sz="1600" dirty="0">
                <a:latin typeface="Times New Roman" panose="02020603050405020304" pitchFamily="18" charset="0"/>
                <a:cs typeface="Times New Roman" panose="02020603050405020304" pitchFamily="18" charset="0"/>
              </a:rPr>
              <a:t>Pre- and post-therapy emotional comparison for better treatment insights</a:t>
            </a:r>
          </a:p>
          <a:p>
            <a:pPr>
              <a:lnSpc>
                <a:spcPct val="50000"/>
              </a:lnSpc>
            </a:pPr>
            <a:endParaRPr lang="en-US" sz="1600" dirty="0">
              <a:latin typeface="Times New Roman" panose="02020603050405020304" pitchFamily="18" charset="0"/>
              <a:cs typeface="Times New Roman" panose="02020603050405020304" pitchFamily="18" charset="0"/>
            </a:endParaRPr>
          </a:p>
          <a:p>
            <a:pPr marL="50800" indent="0">
              <a:buNone/>
            </a:pPr>
            <a:r>
              <a:rPr lang="en-IN" sz="1800" b="1" dirty="0">
                <a:latin typeface="Times New Roman" panose="02020603050405020304" pitchFamily="18" charset="0"/>
                <a:cs typeface="Times New Roman" panose="02020603050405020304" pitchFamily="18" charset="0"/>
              </a:rPr>
              <a:t>Planned Features (UI/UX, DL, LLM, Other Aspects)</a:t>
            </a:r>
          </a:p>
          <a:p>
            <a:r>
              <a:rPr lang="en-IN" sz="1600" b="1" dirty="0">
                <a:latin typeface="Times New Roman" panose="02020603050405020304" pitchFamily="18" charset="0"/>
                <a:cs typeface="Times New Roman" panose="02020603050405020304" pitchFamily="18" charset="0"/>
              </a:rPr>
              <a:t>UI / UX - </a:t>
            </a:r>
            <a:r>
              <a:rPr lang="en-IN" sz="1600" dirty="0">
                <a:latin typeface="Times New Roman" panose="02020603050405020304" pitchFamily="18" charset="0"/>
                <a:cs typeface="Times New Roman" panose="02020603050405020304" pitchFamily="18" charset="0"/>
              </a:rPr>
              <a:t>Simple, calming, and user-friendly interface, Separate dashboards for users and doctors, Easy journaling and therapy scheduling workflows</a:t>
            </a:r>
          </a:p>
          <a:p>
            <a:r>
              <a:rPr lang="en-IN" sz="1600" b="1" dirty="0">
                <a:latin typeface="Times New Roman" panose="02020603050405020304" pitchFamily="18" charset="0"/>
                <a:cs typeface="Times New Roman" panose="02020603050405020304" pitchFamily="18" charset="0"/>
              </a:rPr>
              <a:t>Deep Learning (DL)- </a:t>
            </a:r>
            <a:r>
              <a:rPr lang="en-IN" sz="1600" dirty="0">
                <a:latin typeface="Times New Roman" panose="02020603050405020304" pitchFamily="18" charset="0"/>
                <a:cs typeface="Times New Roman" panose="02020603050405020304" pitchFamily="18" charset="0"/>
              </a:rPr>
              <a:t>Emotion and sentiment detection from journal text, Emotional trend analysis over time</a:t>
            </a:r>
          </a:p>
          <a:p>
            <a:r>
              <a:rPr lang="en-IN" sz="1600" b="1" dirty="0">
                <a:latin typeface="Times New Roman" panose="02020603050405020304" pitchFamily="18" charset="0"/>
                <a:cs typeface="Times New Roman" panose="02020603050405020304" pitchFamily="18" charset="0"/>
              </a:rPr>
              <a:t>Large Language Models (LLM)- </a:t>
            </a:r>
            <a:r>
              <a:rPr lang="en-IN" sz="1600" dirty="0">
                <a:latin typeface="Times New Roman" panose="02020603050405020304" pitchFamily="18" charset="0"/>
                <a:cs typeface="Times New Roman" panose="02020603050405020304" pitchFamily="18" charset="0"/>
              </a:rPr>
              <a:t>Empathetic chatbot for emotional check-ins and guidance, Context-aware responses based on user input</a:t>
            </a:r>
          </a:p>
          <a:p>
            <a:pPr marL="50800" indent="0">
              <a:lnSpc>
                <a:spcPct val="50000"/>
              </a:lnSpc>
              <a:buNone/>
            </a:pPr>
            <a:endParaRPr lang="en-US" sz="1800" dirty="0">
              <a:latin typeface="Times New Roman" panose="02020603050405020304" pitchFamily="18" charset="0"/>
              <a:cs typeface="Times New Roman" panose="02020603050405020304" pitchFamily="18" charset="0"/>
            </a:endParaRPr>
          </a:p>
          <a:p>
            <a:pPr marL="50800" indent="0">
              <a:buNone/>
            </a:pPr>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4" name="Google Shape;1035;p46">
            <a:extLst>
              <a:ext uri="{FF2B5EF4-FFF2-40B4-BE49-F238E27FC236}">
                <a16:creationId xmlns:a16="http://schemas.microsoft.com/office/drawing/2014/main" id="{FABD9772-ADD7-8B55-1C92-9F343D12E219}"/>
              </a:ext>
            </a:extLst>
          </p:cNvPr>
          <p:cNvSpPr txBox="1">
            <a:spLocks/>
          </p:cNvSpPr>
          <p:nvPr/>
        </p:nvSpPr>
        <p:spPr>
          <a:xfrm>
            <a:off x="219741" y="82335"/>
            <a:ext cx="10515600" cy="456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C00000"/>
              </a:buClr>
              <a:buSzPts val="3600"/>
              <a:buFont typeface="Times New Roman"/>
              <a:buNone/>
            </a:pPr>
            <a:r>
              <a:rPr lang="en-IN" b="1" i="1" dirty="0" err="1">
                <a:solidFill>
                  <a:srgbClr val="C00000"/>
                </a:solidFill>
                <a:latin typeface="Times New Roman"/>
                <a:cs typeface="Times New Roman"/>
                <a:sym typeface="Times New Roman"/>
              </a:rPr>
              <a:t>TENAWell</a:t>
            </a:r>
            <a:r>
              <a:rPr lang="en-IN" b="1" i="1" dirty="0">
                <a:solidFill>
                  <a:srgbClr val="C00000"/>
                </a:solidFill>
                <a:latin typeface="Times New Roman"/>
                <a:cs typeface="Times New Roman"/>
                <a:sym typeface="Times New Roman"/>
              </a:rPr>
              <a:t> - Features</a:t>
            </a:r>
            <a:endParaRPr lang="en-IN" sz="5400" dirty="0"/>
          </a:p>
        </p:txBody>
      </p:sp>
    </p:spTree>
    <p:extLst>
      <p:ext uri="{BB962C8B-B14F-4D97-AF65-F5344CB8AC3E}">
        <p14:creationId xmlns:p14="http://schemas.microsoft.com/office/powerpoint/2010/main" val="18094379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55A90-D2E8-D0D2-A150-5E199C2EFB53}"/>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273D299D-8C37-1C65-3AAA-71D5C8C9594B}"/>
              </a:ext>
            </a:extLst>
          </p:cNvPr>
          <p:cNvSpPr txBox="1">
            <a:spLocks noGrp="1"/>
          </p:cNvSpPr>
          <p:nvPr>
            <p:ph type="title"/>
          </p:nvPr>
        </p:nvSpPr>
        <p:spPr>
          <a:xfrm>
            <a:off x="274321" y="227112"/>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b="1" i="1" dirty="0">
                <a:solidFill>
                  <a:srgbClr val="C00000"/>
                </a:solidFill>
                <a:latin typeface="Times New Roman"/>
                <a:cs typeface="Times New Roman"/>
                <a:sym typeface="Times New Roman"/>
              </a:rPr>
              <a:t>Step by Step Workflow</a:t>
            </a:r>
            <a:endParaRPr lang="en-IN" sz="5400" dirty="0"/>
          </a:p>
        </p:txBody>
      </p:sp>
      <p:sp>
        <p:nvSpPr>
          <p:cNvPr id="2" name="Rectangle 1">
            <a:extLst>
              <a:ext uri="{FF2B5EF4-FFF2-40B4-BE49-F238E27FC236}">
                <a16:creationId xmlns:a16="http://schemas.microsoft.com/office/drawing/2014/main" id="{90294640-A5D9-7C3D-6337-748FCAD14E58}"/>
              </a:ext>
            </a:extLst>
          </p:cNvPr>
          <p:cNvSpPr>
            <a:spLocks noChangeArrowheads="1"/>
          </p:cNvSpPr>
          <p:nvPr/>
        </p:nvSpPr>
        <p:spPr bwMode="auto">
          <a:xfrm>
            <a:off x="274320" y="803781"/>
            <a:ext cx="10800079"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1.User Onboarding &amp; Consent</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signs up anonymously or chooses to share personal details; consent preferences are set.</a:t>
            </a:r>
          </a:p>
          <a:p>
            <a:pPr marL="0" marR="0" lvl="0" indent="0" algn="l" defTabSz="914400" rtl="0" eaLnBrk="0" fontAlgn="base" latinLnBrk="0" hangingPunct="0">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2.Daily Emotional Check-in</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interacts with the chatbot or writes a journal entry describing current feelings.</a:t>
            </a:r>
          </a:p>
          <a:p>
            <a:pPr marL="0" marR="0" lvl="0" indent="0" algn="l" defTabSz="914400" rtl="0" eaLnBrk="0" fontAlgn="base" latinLnBrk="0" hangingPunct="0">
              <a:spcBef>
                <a:spcPct val="0"/>
              </a:spcBef>
              <a:spcAft>
                <a:spcPct val="0"/>
              </a:spcAft>
              <a:buClrTx/>
              <a:buSzTx/>
              <a:tabLst/>
            </a:pPr>
            <a:r>
              <a:rPr lang="en-US" altLang="en-US" sz="1600" b="1" dirty="0">
                <a:solidFill>
                  <a:schemeClr val="tx1"/>
                </a:solidFill>
                <a:latin typeface="Times New Roman" panose="02020603050405020304" pitchFamily="18" charset="0"/>
                <a:cs typeface="Times New Roman" panose="02020603050405020304" pitchFamily="18" charset="0"/>
              </a:rPr>
              <a:t>3.</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AI-Based Emotion Analysis</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Journal entries and chatbot inputs are analyzed to detect emotional state and patterns.</a:t>
            </a:r>
          </a:p>
          <a:p>
            <a:pPr marL="0" marR="0" lvl="0" indent="0" algn="l" defTabSz="914400" rtl="0" eaLnBrk="0" fontAlgn="base" latinLnBrk="0" hangingPunct="0">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4.Supportive Feedback &amp; Suggestions</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chatbot provides empathetic responses and suggests simple coping actions.</a:t>
            </a:r>
          </a:p>
          <a:p>
            <a:pPr marL="0" marR="0" lvl="0" indent="0" algn="l" defTabSz="914400" rtl="0" eaLnBrk="0" fontAlgn="base" latinLnBrk="0" hangingPunct="0">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5.Therapy Scheduling (Optional)</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schedules a therapy session based on availability and need.</a:t>
            </a:r>
          </a:p>
          <a:p>
            <a:pPr marL="0" marR="0" lvl="0" indent="0" algn="l" defTabSz="914400" rtl="0" eaLnBrk="0" fontAlgn="base" latinLnBrk="0" hangingPunct="0">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6.Pre-Therapy Journaling</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records emotional state before the scheduled session.</a:t>
            </a:r>
          </a:p>
          <a:p>
            <a:pPr marL="0" marR="0" lvl="0" indent="0" algn="l" defTabSz="914400" rtl="0" eaLnBrk="0" fontAlgn="base" latinLnBrk="0" hangingPunct="0">
              <a:spcBef>
                <a:spcPct val="0"/>
              </a:spcBef>
              <a:spcAft>
                <a:spcPct val="0"/>
              </a:spcAft>
              <a:buClrTx/>
              <a:buSzTx/>
              <a:tabLst/>
            </a:pPr>
            <a:r>
              <a:rPr lang="en-US" altLang="en-US" sz="1600" b="1" dirty="0">
                <a:solidFill>
                  <a:schemeClr val="tx1"/>
                </a:solidFill>
                <a:latin typeface="Times New Roman" panose="02020603050405020304" pitchFamily="18" charset="0"/>
                <a:cs typeface="Times New Roman" panose="02020603050405020304" pitchFamily="18" charset="0"/>
              </a:rPr>
              <a:t>7.</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Doctor Review &amp; Session Discussion</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Doctor reviews consent-based reports and discusses them during therapy.</a:t>
            </a:r>
          </a:p>
          <a:p>
            <a:pPr marL="0" marR="0" lvl="0" indent="0" algn="l" defTabSz="914400" rtl="0" eaLnBrk="0" fontAlgn="base" latinLnBrk="0" hangingPunct="0">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8.Post-Therapy Journaling</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journals feelings after the session for comparison.</a:t>
            </a:r>
          </a:p>
          <a:p>
            <a:pPr marL="0" marR="0" lvl="0" indent="0" algn="l" defTabSz="914400" rtl="0" eaLnBrk="0" fontAlgn="base" latinLnBrk="0" hangingPunct="0">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9.Progress Tracking &amp; Reports</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generates emotional trend and progress reports.</a:t>
            </a:r>
          </a:p>
          <a:p>
            <a:pPr marL="0" marR="0" lvl="0" indent="0" algn="l" defTabSz="914400" rtl="0" eaLnBrk="0" fontAlgn="base" latinLnBrk="0" hangingPunct="0">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10.Safety Monitoring</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High-risk content triggers supportive alerts and guidance</a:t>
            </a:r>
          </a:p>
        </p:txBody>
      </p:sp>
    </p:spTree>
    <p:extLst>
      <p:ext uri="{BB962C8B-B14F-4D97-AF65-F5344CB8AC3E}">
        <p14:creationId xmlns:p14="http://schemas.microsoft.com/office/powerpoint/2010/main" val="3872146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35;p46">
            <a:extLst>
              <a:ext uri="{FF2B5EF4-FFF2-40B4-BE49-F238E27FC236}">
                <a16:creationId xmlns:a16="http://schemas.microsoft.com/office/drawing/2014/main" id="{4E0F2191-EDE9-BAD0-5046-3E025236AEA6}"/>
              </a:ext>
            </a:extLst>
          </p:cNvPr>
          <p:cNvSpPr txBox="1">
            <a:spLocks/>
          </p:cNvSpPr>
          <p:nvPr/>
        </p:nvSpPr>
        <p:spPr>
          <a:xfrm>
            <a:off x="274321" y="224575"/>
            <a:ext cx="10515600" cy="456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C00000"/>
              </a:buClr>
              <a:buSzPts val="3600"/>
              <a:buFont typeface="Times New Roman"/>
              <a:buNone/>
            </a:pPr>
            <a:r>
              <a:rPr lang="en-IN" b="1" i="1" dirty="0">
                <a:solidFill>
                  <a:srgbClr val="C00000"/>
                </a:solidFill>
                <a:latin typeface="Times New Roman"/>
                <a:cs typeface="Times New Roman"/>
                <a:sym typeface="Times New Roman"/>
              </a:rPr>
              <a:t>Architecture Diagram</a:t>
            </a:r>
            <a:endParaRPr lang="en-IN" sz="5400" dirty="0"/>
          </a:p>
        </p:txBody>
      </p:sp>
      <p:pic>
        <p:nvPicPr>
          <p:cNvPr id="6" name="Picture 5">
            <a:extLst>
              <a:ext uri="{FF2B5EF4-FFF2-40B4-BE49-F238E27FC236}">
                <a16:creationId xmlns:a16="http://schemas.microsoft.com/office/drawing/2014/main" id="{BEC88519-BB4A-0937-BFC6-12808569F3E2}"/>
              </a:ext>
            </a:extLst>
          </p:cNvPr>
          <p:cNvPicPr>
            <a:picLocks noChangeAspect="1"/>
          </p:cNvPicPr>
          <p:nvPr/>
        </p:nvPicPr>
        <p:blipFill>
          <a:blip r:embed="rId2"/>
          <a:stretch>
            <a:fillRect/>
          </a:stretch>
        </p:blipFill>
        <p:spPr>
          <a:xfrm>
            <a:off x="2306320" y="820420"/>
            <a:ext cx="7487920" cy="4991947"/>
          </a:xfrm>
          <a:prstGeom prst="rect">
            <a:avLst/>
          </a:prstGeom>
        </p:spPr>
      </p:pic>
      <p:pic>
        <p:nvPicPr>
          <p:cNvPr id="8" name="Picture 7" descr="A white background with black dots&#10;&#10;AI-generated content may be incorrect.">
            <a:extLst>
              <a:ext uri="{FF2B5EF4-FFF2-40B4-BE49-F238E27FC236}">
                <a16:creationId xmlns:a16="http://schemas.microsoft.com/office/drawing/2014/main" id="{0B4E41E2-C448-F7DA-7966-042C9B2E596D}"/>
              </a:ext>
            </a:extLst>
          </p:cNvPr>
          <p:cNvPicPr>
            <a:picLocks noChangeAspect="1"/>
          </p:cNvPicPr>
          <p:nvPr/>
        </p:nvPicPr>
        <p:blipFill>
          <a:blip r:embed="rId3"/>
          <a:stretch>
            <a:fillRect/>
          </a:stretch>
        </p:blipFill>
        <p:spPr>
          <a:xfrm>
            <a:off x="7366200" y="3802311"/>
            <a:ext cx="2092760" cy="2010056"/>
          </a:xfrm>
          <a:prstGeom prst="rect">
            <a:avLst/>
          </a:prstGeom>
        </p:spPr>
      </p:pic>
      <p:cxnSp>
        <p:nvCxnSpPr>
          <p:cNvPr id="10" name="Straight Connector 9">
            <a:extLst>
              <a:ext uri="{FF2B5EF4-FFF2-40B4-BE49-F238E27FC236}">
                <a16:creationId xmlns:a16="http://schemas.microsoft.com/office/drawing/2014/main" id="{8B46AC76-B05A-A8E3-03E9-50D18B4A889C}"/>
              </a:ext>
            </a:extLst>
          </p:cNvPr>
          <p:cNvCxnSpPr/>
          <p:nvPr/>
        </p:nvCxnSpPr>
        <p:spPr>
          <a:xfrm>
            <a:off x="7366200" y="4074160"/>
            <a:ext cx="0" cy="128016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9878059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990C5-A5C4-5A70-9092-9A89662693A8}"/>
            </a:ext>
          </a:extLst>
        </p:cNvPr>
        <p:cNvGrpSpPr/>
        <p:nvPr/>
      </p:nvGrpSpPr>
      <p:grpSpPr>
        <a:xfrm>
          <a:off x="0" y="0"/>
          <a:ext cx="0" cy="0"/>
          <a:chOff x="0" y="0"/>
          <a:chExt cx="0" cy="0"/>
        </a:xfrm>
      </p:grpSpPr>
      <p:sp>
        <p:nvSpPr>
          <p:cNvPr id="4" name="Google Shape;1035;p46">
            <a:extLst>
              <a:ext uri="{FF2B5EF4-FFF2-40B4-BE49-F238E27FC236}">
                <a16:creationId xmlns:a16="http://schemas.microsoft.com/office/drawing/2014/main" id="{27F5813E-3D5A-A6EF-696C-13728EC1DDDB}"/>
              </a:ext>
            </a:extLst>
          </p:cNvPr>
          <p:cNvSpPr txBox="1">
            <a:spLocks/>
          </p:cNvSpPr>
          <p:nvPr/>
        </p:nvSpPr>
        <p:spPr>
          <a:xfrm>
            <a:off x="111760" y="82336"/>
            <a:ext cx="10515600" cy="456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C00000"/>
              </a:buClr>
              <a:buSzPts val="3600"/>
              <a:buFont typeface="Times New Roman"/>
              <a:buNone/>
            </a:pPr>
            <a:r>
              <a:rPr lang="en-IN" b="1" i="1" dirty="0">
                <a:solidFill>
                  <a:srgbClr val="C00000"/>
                </a:solidFill>
                <a:latin typeface="Times New Roman"/>
                <a:cs typeface="Times New Roman"/>
                <a:sym typeface="Times New Roman"/>
              </a:rPr>
              <a:t>List of Modules</a:t>
            </a:r>
            <a:endParaRPr lang="en-IN" sz="5400" dirty="0"/>
          </a:p>
        </p:txBody>
      </p:sp>
      <p:pic>
        <p:nvPicPr>
          <p:cNvPr id="5" name="Picture 4" descr="A screenshot of a computer">
            <a:extLst>
              <a:ext uri="{FF2B5EF4-FFF2-40B4-BE49-F238E27FC236}">
                <a16:creationId xmlns:a16="http://schemas.microsoft.com/office/drawing/2014/main" id="{986AA728-46CF-4F38-30E5-03474E0B1862}"/>
              </a:ext>
            </a:extLst>
          </p:cNvPr>
          <p:cNvPicPr>
            <a:picLocks noChangeAspect="1"/>
          </p:cNvPicPr>
          <p:nvPr/>
        </p:nvPicPr>
        <p:blipFill>
          <a:blip r:embed="rId2"/>
          <a:stretch>
            <a:fillRect/>
          </a:stretch>
        </p:blipFill>
        <p:spPr>
          <a:xfrm>
            <a:off x="741680" y="704550"/>
            <a:ext cx="10109200" cy="5296920"/>
          </a:xfrm>
          <a:prstGeom prst="rect">
            <a:avLst/>
          </a:prstGeom>
        </p:spPr>
      </p:pic>
    </p:spTree>
    <p:extLst>
      <p:ext uri="{BB962C8B-B14F-4D97-AF65-F5344CB8AC3E}">
        <p14:creationId xmlns:p14="http://schemas.microsoft.com/office/powerpoint/2010/main" val="39700106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29291-5331-AFE8-1CB5-85DC32CDF46F}"/>
            </a:ext>
          </a:extLst>
        </p:cNvPr>
        <p:cNvGrpSpPr/>
        <p:nvPr/>
      </p:nvGrpSpPr>
      <p:grpSpPr>
        <a:xfrm>
          <a:off x="0" y="0"/>
          <a:ext cx="0" cy="0"/>
          <a:chOff x="0" y="0"/>
          <a:chExt cx="0" cy="0"/>
        </a:xfrm>
      </p:grpSpPr>
      <p:sp>
        <p:nvSpPr>
          <p:cNvPr id="4" name="Google Shape;1035;p46">
            <a:extLst>
              <a:ext uri="{FF2B5EF4-FFF2-40B4-BE49-F238E27FC236}">
                <a16:creationId xmlns:a16="http://schemas.microsoft.com/office/drawing/2014/main" id="{963329D8-EC0E-760A-A974-47102386AA05}"/>
              </a:ext>
            </a:extLst>
          </p:cNvPr>
          <p:cNvSpPr txBox="1">
            <a:spLocks/>
          </p:cNvSpPr>
          <p:nvPr/>
        </p:nvSpPr>
        <p:spPr>
          <a:xfrm>
            <a:off x="219741" y="82335"/>
            <a:ext cx="10515600" cy="456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C00000"/>
              </a:buClr>
              <a:buSzPts val="3600"/>
              <a:buFont typeface="Times New Roman"/>
              <a:buNone/>
            </a:pPr>
            <a:r>
              <a:rPr lang="en-IN" b="1" i="1" dirty="0">
                <a:solidFill>
                  <a:srgbClr val="C00000"/>
                </a:solidFill>
                <a:latin typeface="Times New Roman"/>
                <a:cs typeface="Times New Roman"/>
                <a:sym typeface="Times New Roman"/>
              </a:rPr>
              <a:t>Sample Expected Output</a:t>
            </a:r>
            <a:endParaRPr lang="en-IN" sz="5400" dirty="0"/>
          </a:p>
        </p:txBody>
      </p:sp>
      <p:pic>
        <p:nvPicPr>
          <p:cNvPr id="5" name="Picture 4">
            <a:extLst>
              <a:ext uri="{FF2B5EF4-FFF2-40B4-BE49-F238E27FC236}">
                <a16:creationId xmlns:a16="http://schemas.microsoft.com/office/drawing/2014/main" id="{67C8B234-54D1-01BF-F423-2A3F4E06F65F}"/>
              </a:ext>
            </a:extLst>
          </p:cNvPr>
          <p:cNvPicPr>
            <a:picLocks noChangeAspect="1"/>
          </p:cNvPicPr>
          <p:nvPr/>
        </p:nvPicPr>
        <p:blipFill>
          <a:blip r:embed="rId2"/>
          <a:srcRect b="9562"/>
          <a:stretch>
            <a:fillRect/>
          </a:stretch>
        </p:blipFill>
        <p:spPr>
          <a:xfrm>
            <a:off x="1598899" y="659944"/>
            <a:ext cx="8618220" cy="5196085"/>
          </a:xfrm>
          <a:prstGeom prst="rect">
            <a:avLst/>
          </a:prstGeom>
        </p:spPr>
      </p:pic>
    </p:spTree>
    <p:extLst>
      <p:ext uri="{BB962C8B-B14F-4D97-AF65-F5344CB8AC3E}">
        <p14:creationId xmlns:p14="http://schemas.microsoft.com/office/powerpoint/2010/main" val="14687513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EB546-2BE3-77C5-74AE-E36718D1330D}"/>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19B09C99-249A-DD85-56F4-885DF8171205}"/>
              </a:ext>
            </a:extLst>
          </p:cNvPr>
          <p:cNvSpPr txBox="1">
            <a:spLocks noGrp="1"/>
          </p:cNvSpPr>
          <p:nvPr>
            <p:ph type="title"/>
          </p:nvPr>
        </p:nvSpPr>
        <p:spPr>
          <a:xfrm>
            <a:off x="274321" y="227112"/>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br>
              <a:rPr lang="en-IN" b="1" i="1" dirty="0">
                <a:solidFill>
                  <a:srgbClr val="C00000"/>
                </a:solidFill>
                <a:latin typeface="Times New Roman"/>
                <a:cs typeface="Times New Roman"/>
                <a:sym typeface="Times New Roman"/>
              </a:rPr>
            </a:br>
            <a:r>
              <a:rPr lang="en-IN" b="1" i="1" dirty="0">
                <a:solidFill>
                  <a:srgbClr val="C00000"/>
                </a:solidFill>
                <a:latin typeface="Times New Roman"/>
                <a:cs typeface="Times New Roman"/>
                <a:sym typeface="Times New Roman"/>
              </a:rPr>
              <a:t> Changes for mobile stack compatibility</a:t>
            </a:r>
            <a:br>
              <a:rPr lang="en-IN" b="1" i="1" dirty="0">
                <a:solidFill>
                  <a:srgbClr val="C00000"/>
                </a:solidFill>
                <a:latin typeface="Times New Roman"/>
                <a:cs typeface="Times New Roman"/>
                <a:sym typeface="Times New Roman"/>
              </a:rPr>
            </a:br>
            <a:endParaRPr lang="en-IN" sz="5400" dirty="0"/>
          </a:p>
        </p:txBody>
      </p:sp>
      <p:sp>
        <p:nvSpPr>
          <p:cNvPr id="2" name="Rectangle 1">
            <a:extLst>
              <a:ext uri="{FF2B5EF4-FFF2-40B4-BE49-F238E27FC236}">
                <a16:creationId xmlns:a16="http://schemas.microsoft.com/office/drawing/2014/main" id="{E2C51F54-7E60-AE2F-72F1-C84D9ADD905B}"/>
              </a:ext>
            </a:extLst>
          </p:cNvPr>
          <p:cNvSpPr>
            <a:spLocks noChangeArrowheads="1"/>
          </p:cNvSpPr>
          <p:nvPr/>
        </p:nvSpPr>
        <p:spPr bwMode="auto">
          <a:xfrm>
            <a:off x="274320" y="1173113"/>
            <a:ext cx="10800079"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mj-lt"/>
              <a:buAutoNum type="arabicPeriod"/>
            </a:pPr>
            <a:r>
              <a:rPr lang="en-IN" sz="1600" b="1" dirty="0">
                <a:latin typeface="Times New Roman" panose="02020603050405020304" pitchFamily="18" charset="0"/>
                <a:cs typeface="Times New Roman" panose="02020603050405020304" pitchFamily="18" charset="0"/>
              </a:rPr>
              <a:t>Frontend Change: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Replace Angular web UI with a mobile framework such as </a:t>
            </a:r>
            <a:r>
              <a:rPr lang="en-IN" sz="1600" b="1" dirty="0">
                <a:latin typeface="Times New Roman" panose="02020603050405020304" pitchFamily="18" charset="0"/>
                <a:cs typeface="Times New Roman" panose="02020603050405020304" pitchFamily="18" charset="0"/>
              </a:rPr>
              <a:t>Flutter</a:t>
            </a:r>
            <a:r>
              <a:rPr lang="en-IN" sz="1600" dirty="0">
                <a:latin typeface="Times New Roman" panose="02020603050405020304" pitchFamily="18" charset="0"/>
                <a:cs typeface="Times New Roman" panose="02020603050405020304" pitchFamily="18" charset="0"/>
              </a:rPr>
              <a:t> or </a:t>
            </a:r>
            <a:r>
              <a:rPr lang="en-IN" sz="1600" b="1" dirty="0">
                <a:latin typeface="Times New Roman" panose="02020603050405020304" pitchFamily="18" charset="0"/>
                <a:cs typeface="Times New Roman" panose="02020603050405020304" pitchFamily="18" charset="0"/>
              </a:rPr>
              <a:t>React Native</a:t>
            </a:r>
            <a:r>
              <a:rPr lang="en-IN" sz="1600" dirty="0">
                <a:latin typeface="Times New Roman" panose="02020603050405020304" pitchFamily="18" charset="0"/>
                <a:cs typeface="Times New Roman" panose="02020603050405020304" pitchFamily="18" charset="0"/>
              </a:rPr>
              <a:t> for Android and iOS support.</a:t>
            </a:r>
          </a:p>
          <a:p>
            <a:pPr marL="342900" indent="-342900">
              <a:buFont typeface="+mj-lt"/>
              <a:buAutoNum type="arabicPeriod"/>
            </a:pPr>
            <a:r>
              <a:rPr lang="en-IN" sz="1600" b="1" dirty="0">
                <a:latin typeface="Times New Roman" panose="02020603050405020304" pitchFamily="18" charset="0"/>
                <a:cs typeface="Times New Roman" panose="02020603050405020304" pitchFamily="18" charset="0"/>
              </a:rPr>
              <a:t>UI/UX Adaptation: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Redesign interfaces for smaller screens, touch interactions, accessibility, and offline-friendly journaling.</a:t>
            </a:r>
          </a:p>
          <a:p>
            <a:pPr marL="342900" indent="-342900">
              <a:buFont typeface="+mj-lt"/>
              <a:buAutoNum type="arabicPeriod"/>
            </a:pPr>
            <a:r>
              <a:rPr lang="en-IN" sz="1600" b="1" dirty="0">
                <a:latin typeface="Times New Roman" panose="02020603050405020304" pitchFamily="18" charset="0"/>
                <a:cs typeface="Times New Roman" panose="02020603050405020304" pitchFamily="18" charset="0"/>
              </a:rPr>
              <a:t>Backend (Minimal Changes):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Existing </a:t>
            </a:r>
            <a:r>
              <a:rPr lang="en-IN" sz="1600" b="1" dirty="0">
                <a:latin typeface="Times New Roman" panose="02020603050405020304" pitchFamily="18" charset="0"/>
                <a:cs typeface="Times New Roman" panose="02020603050405020304" pitchFamily="18" charset="0"/>
              </a:rPr>
              <a:t>Node.js + Express APIs</a:t>
            </a:r>
            <a:r>
              <a:rPr lang="en-IN" sz="1600" dirty="0">
                <a:latin typeface="Times New Roman" panose="02020603050405020304" pitchFamily="18" charset="0"/>
                <a:cs typeface="Times New Roman" panose="02020603050405020304" pitchFamily="18" charset="0"/>
              </a:rPr>
              <a:t> can be reused with minor optimizations for mobile performance.</a:t>
            </a:r>
          </a:p>
          <a:p>
            <a:pPr marL="342900" indent="-342900">
              <a:buFont typeface="+mj-lt"/>
              <a:buAutoNum type="arabicPeriod"/>
            </a:pPr>
            <a:r>
              <a:rPr lang="en-IN" sz="1600" b="1" dirty="0">
                <a:latin typeface="Times New Roman" panose="02020603050405020304" pitchFamily="18" charset="0"/>
                <a:cs typeface="Times New Roman" panose="02020603050405020304" pitchFamily="18" charset="0"/>
              </a:rPr>
              <a:t>Database (No Major Change):</a:t>
            </a:r>
            <a:br>
              <a:rPr lang="en-IN" sz="1600" dirty="0">
                <a:latin typeface="Times New Roman" panose="02020603050405020304" pitchFamily="18" charset="0"/>
                <a:cs typeface="Times New Roman" panose="02020603050405020304" pitchFamily="18" charset="0"/>
              </a:rPr>
            </a:br>
            <a:r>
              <a:rPr lang="en-IN" sz="1600" b="1" dirty="0">
                <a:latin typeface="Times New Roman" panose="02020603050405020304" pitchFamily="18" charset="0"/>
                <a:cs typeface="Times New Roman" panose="02020603050405020304" pitchFamily="18" charset="0"/>
              </a:rPr>
              <a:t>MongoDB</a:t>
            </a:r>
            <a:r>
              <a:rPr lang="en-IN" sz="1600" dirty="0">
                <a:latin typeface="Times New Roman" panose="02020603050405020304" pitchFamily="18" charset="0"/>
                <a:cs typeface="Times New Roman" panose="02020603050405020304" pitchFamily="18" charset="0"/>
              </a:rPr>
              <a:t> remains unchanged; additional indexing may be added for faster mobile queries.</a:t>
            </a:r>
          </a:p>
          <a:p>
            <a:pPr marL="342900" indent="-342900">
              <a:buFont typeface="+mj-lt"/>
              <a:buAutoNum type="arabicPeriod"/>
            </a:pPr>
            <a:r>
              <a:rPr lang="en-IN" sz="1600" b="1" dirty="0">
                <a:latin typeface="Times New Roman" panose="02020603050405020304" pitchFamily="18" charset="0"/>
                <a:cs typeface="Times New Roman" panose="02020603050405020304" pitchFamily="18" charset="0"/>
              </a:rPr>
              <a:t>Authentication Updates: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Implement mobile-friendly authentication (OTP, biometric login, secure tokens).</a:t>
            </a:r>
          </a:p>
          <a:p>
            <a:pPr marL="342900" indent="-342900">
              <a:buFont typeface="+mj-lt"/>
              <a:buAutoNum type="arabicPeriod"/>
            </a:pPr>
            <a:r>
              <a:rPr lang="en-IN" sz="1600" b="1" dirty="0">
                <a:latin typeface="Times New Roman" panose="02020603050405020304" pitchFamily="18" charset="0"/>
                <a:cs typeface="Times New Roman" panose="02020603050405020304" pitchFamily="18" charset="0"/>
              </a:rPr>
              <a:t>AI Service Integration: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AI/DL/LLM services remain server-side; mobile app consumes AI results via APIs.</a:t>
            </a:r>
          </a:p>
          <a:p>
            <a:pPr marL="342900" indent="-342900">
              <a:buFont typeface="+mj-lt"/>
              <a:buAutoNum type="arabicPeriod"/>
            </a:pPr>
            <a:r>
              <a:rPr lang="en-IN" sz="1600" b="1" dirty="0">
                <a:latin typeface="Times New Roman" panose="02020603050405020304" pitchFamily="18" charset="0"/>
                <a:cs typeface="Times New Roman" panose="02020603050405020304" pitchFamily="18" charset="0"/>
              </a:rPr>
              <a:t>Push Notifications: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Add mobile push notifications for check-ins, reminders, and therapy schedules.</a:t>
            </a:r>
          </a:p>
          <a:p>
            <a:pPr marL="342900" indent="-342900">
              <a:buFont typeface="+mj-lt"/>
              <a:buAutoNum type="arabicPeriod"/>
            </a:pPr>
            <a:r>
              <a:rPr lang="en-IN" sz="1600" b="1" dirty="0">
                <a:latin typeface="Times New Roman" panose="02020603050405020304" pitchFamily="18" charset="0"/>
                <a:cs typeface="Times New Roman" panose="02020603050405020304" pitchFamily="18" charset="0"/>
              </a:rPr>
              <a:t>Offline &amp; Sync Support:</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Enable local storage and background sync for journaling when internet is unavailable.</a:t>
            </a:r>
          </a:p>
          <a:p>
            <a:pPr marL="342900" marR="0" lvl="0" indent="-342900" algn="l" defTabSz="914400" rtl="0" eaLnBrk="0" fontAlgn="base" latinLnBrk="0" hangingPunct="0">
              <a:spcBef>
                <a:spcPct val="0"/>
              </a:spcBef>
              <a:spcAft>
                <a:spcPct val="0"/>
              </a:spcAft>
              <a:buClrTx/>
              <a:buSzTx/>
              <a:buFont typeface="+mj-lt"/>
              <a:buAutoNum type="arabicPeriod"/>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19370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CF40B-02E3-4613-6C76-0D2B0A5F512B}"/>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41EE2341-9251-336D-B971-F531A229DEE8}"/>
              </a:ext>
            </a:extLst>
          </p:cNvPr>
          <p:cNvSpPr txBox="1">
            <a:spLocks noGrp="1"/>
          </p:cNvSpPr>
          <p:nvPr>
            <p:ph type="title"/>
          </p:nvPr>
        </p:nvSpPr>
        <p:spPr>
          <a:xfrm>
            <a:off x="274321" y="227112"/>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br>
              <a:rPr lang="en-IN" b="1" i="1" dirty="0">
                <a:solidFill>
                  <a:srgbClr val="C00000"/>
                </a:solidFill>
                <a:latin typeface="Times New Roman"/>
                <a:cs typeface="Times New Roman"/>
                <a:sym typeface="Times New Roman"/>
              </a:rPr>
            </a:br>
            <a:r>
              <a:rPr lang="en-IN" b="1" i="1" dirty="0">
                <a:solidFill>
                  <a:srgbClr val="C00000"/>
                </a:solidFill>
                <a:latin typeface="Times New Roman"/>
                <a:cs typeface="Times New Roman"/>
                <a:sym typeface="Times New Roman"/>
              </a:rPr>
              <a:t> DevOps Solutions</a:t>
            </a:r>
            <a:br>
              <a:rPr lang="en-IN" b="1" i="1" dirty="0">
                <a:solidFill>
                  <a:srgbClr val="C00000"/>
                </a:solidFill>
                <a:latin typeface="Times New Roman"/>
                <a:cs typeface="Times New Roman"/>
                <a:sym typeface="Times New Roman"/>
              </a:rPr>
            </a:br>
            <a:endParaRPr lang="en-IN" sz="5400" dirty="0"/>
          </a:p>
        </p:txBody>
      </p:sp>
      <p:sp>
        <p:nvSpPr>
          <p:cNvPr id="3" name="Rectangle 1">
            <a:extLst>
              <a:ext uri="{FF2B5EF4-FFF2-40B4-BE49-F238E27FC236}">
                <a16:creationId xmlns:a16="http://schemas.microsoft.com/office/drawing/2014/main" id="{7CA0DB7C-C3B1-E2F4-9B99-30B5B6239AE6}"/>
              </a:ext>
            </a:extLst>
          </p:cNvPr>
          <p:cNvSpPr>
            <a:spLocks noChangeArrowheads="1"/>
          </p:cNvSpPr>
          <p:nvPr/>
        </p:nvSpPr>
        <p:spPr bwMode="auto">
          <a:xfrm>
            <a:off x="0" y="809904"/>
            <a:ext cx="1203960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Version Control &amp; Collaboration: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Git/GitHub</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source control, branching, and team collaboration.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CI/CD Pipeline: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CI/CD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GitHub Actions / Jenkins to automate build, test, and deployment of frontend, backend, and AI services.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Containerization: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Package application components using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Docker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consistent deployment across environments.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 Deployment: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 services on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AWS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(EC2, ECS, or EKS) for scalability and availability.</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Infrastructure as Code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IaC</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Terraform / AWS CloudFormation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automate infrastructure setup and management.</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Monitoring &amp; Logging:</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Prometheus, Grafana, or CloudWatch</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system health monitoring and log management.</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Security &amp; Compliance: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secrets management, secure API gateways, role-based access control, and regular vulnerability scans.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Auto-Scaling &amp; Reliability:</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auto-scaling and load balancing to handle variable user traffic.</a:t>
            </a:r>
          </a:p>
        </p:txBody>
      </p:sp>
    </p:spTree>
    <p:extLst>
      <p:ext uri="{BB962C8B-B14F-4D97-AF65-F5344CB8AC3E}">
        <p14:creationId xmlns:p14="http://schemas.microsoft.com/office/powerpoint/2010/main" val="42919099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B8137-0567-D992-F34D-E098687FFDE7}"/>
            </a:ext>
          </a:extLst>
        </p:cNvPr>
        <p:cNvGrpSpPr/>
        <p:nvPr/>
      </p:nvGrpSpPr>
      <p:grpSpPr>
        <a:xfrm>
          <a:off x="0" y="0"/>
          <a:ext cx="0" cy="0"/>
          <a:chOff x="0" y="0"/>
          <a:chExt cx="0" cy="0"/>
        </a:xfrm>
      </p:grpSpPr>
      <p:sp>
        <p:nvSpPr>
          <p:cNvPr id="5" name="Google Shape;1035;p46">
            <a:extLst>
              <a:ext uri="{FF2B5EF4-FFF2-40B4-BE49-F238E27FC236}">
                <a16:creationId xmlns:a16="http://schemas.microsoft.com/office/drawing/2014/main" id="{83106D83-9073-6D5A-9C67-72259D05D1BE}"/>
              </a:ext>
            </a:extLst>
          </p:cNvPr>
          <p:cNvSpPr txBox="1">
            <a:spLocks noGrp="1"/>
          </p:cNvSpPr>
          <p:nvPr>
            <p:ph type="title"/>
          </p:nvPr>
        </p:nvSpPr>
        <p:spPr>
          <a:xfrm>
            <a:off x="274321" y="227112"/>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br>
              <a:rPr lang="en-IN" b="1" i="1" dirty="0">
                <a:solidFill>
                  <a:srgbClr val="C00000"/>
                </a:solidFill>
                <a:latin typeface="Times New Roman"/>
                <a:cs typeface="Times New Roman"/>
                <a:sym typeface="Times New Roman"/>
              </a:rPr>
            </a:br>
            <a:r>
              <a:rPr lang="en-IN" b="1" i="1" dirty="0">
                <a:solidFill>
                  <a:srgbClr val="C00000"/>
                </a:solidFill>
                <a:latin typeface="Times New Roman"/>
                <a:cs typeface="Times New Roman"/>
                <a:sym typeface="Times New Roman"/>
              </a:rPr>
              <a:t>Integration to Cloud</a:t>
            </a:r>
            <a:br>
              <a:rPr lang="en-IN" b="1" i="1" dirty="0">
                <a:solidFill>
                  <a:srgbClr val="C00000"/>
                </a:solidFill>
                <a:latin typeface="Times New Roman"/>
                <a:cs typeface="Times New Roman"/>
                <a:sym typeface="Times New Roman"/>
              </a:rPr>
            </a:br>
            <a:endParaRPr lang="en-IN" sz="5400" dirty="0"/>
          </a:p>
        </p:txBody>
      </p:sp>
      <p:sp>
        <p:nvSpPr>
          <p:cNvPr id="2" name="Rectangle 1">
            <a:extLst>
              <a:ext uri="{FF2B5EF4-FFF2-40B4-BE49-F238E27FC236}">
                <a16:creationId xmlns:a16="http://schemas.microsoft.com/office/drawing/2014/main" id="{B7592475-B764-DBD6-D312-9342BA39AACE}"/>
              </a:ext>
            </a:extLst>
          </p:cNvPr>
          <p:cNvSpPr>
            <a:spLocks noChangeArrowheads="1"/>
          </p:cNvSpPr>
          <p:nvPr/>
        </p:nvSpPr>
        <p:spPr bwMode="auto">
          <a:xfrm>
            <a:off x="152400" y="763737"/>
            <a:ext cx="1003992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 Platform:</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 the application on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AWS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scalability, security, and reliability.</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Application Hosting:</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Host frontend and backend services using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EC2 / ECS (Docker containers)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flexible deployment.</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 Layer:</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MongoDB Atlas (Cloud)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secure, scalable, and managed data storage.</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Services Deployment: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Host AI/DL/LLM services as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microservices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 cloud instances, accessed via secure APIs.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API Management: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AWS API Gateway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manage, secure, and monitor API requests.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Storage &amp; Backup:</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Store logs and backups using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Amazon S3</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automated backup policies.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Security &amp; Access Control:</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IAM roles, encryption, and secure authentication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protect sensitive mental health data.</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Scalability &amp; Reliability:</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auto-scaling, load balancing, and high availability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support growing user traffic.</a:t>
            </a:r>
          </a:p>
        </p:txBody>
      </p:sp>
    </p:spTree>
    <p:extLst>
      <p:ext uri="{BB962C8B-B14F-4D97-AF65-F5344CB8AC3E}">
        <p14:creationId xmlns:p14="http://schemas.microsoft.com/office/powerpoint/2010/main" val="1606265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4B925-443D-B5AF-2876-830BE4716E02}"/>
            </a:ext>
          </a:extLst>
        </p:cNvPr>
        <p:cNvGrpSpPr/>
        <p:nvPr/>
      </p:nvGrpSpPr>
      <p:grpSpPr>
        <a:xfrm>
          <a:off x="0" y="0"/>
          <a:ext cx="0" cy="0"/>
          <a:chOff x="0" y="0"/>
          <a:chExt cx="0" cy="0"/>
        </a:xfrm>
      </p:grpSpPr>
      <p:sp>
        <p:nvSpPr>
          <p:cNvPr id="4" name="Google Shape;1035;p46">
            <a:extLst>
              <a:ext uri="{FF2B5EF4-FFF2-40B4-BE49-F238E27FC236}">
                <a16:creationId xmlns:a16="http://schemas.microsoft.com/office/drawing/2014/main" id="{ACB51C00-84F6-6BD3-2351-78669BD4B6F1}"/>
              </a:ext>
            </a:extLst>
          </p:cNvPr>
          <p:cNvSpPr txBox="1">
            <a:spLocks/>
          </p:cNvSpPr>
          <p:nvPr/>
        </p:nvSpPr>
        <p:spPr>
          <a:xfrm>
            <a:off x="0" y="0"/>
            <a:ext cx="13268960" cy="104542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C00000"/>
              </a:buClr>
              <a:buSzPts val="3600"/>
              <a:buFont typeface="Times New Roman"/>
              <a:buNone/>
            </a:pPr>
            <a:r>
              <a:rPr lang="en-IN" sz="4000" b="1" i="1" dirty="0">
                <a:solidFill>
                  <a:srgbClr val="C00000"/>
                </a:solidFill>
                <a:latin typeface="Times New Roman"/>
                <a:cs typeface="Times New Roman"/>
                <a:sym typeface="Times New Roman"/>
              </a:rPr>
              <a:t>List of Research papers published on similar products</a:t>
            </a:r>
            <a:endParaRPr lang="en-IN" sz="4800" dirty="0"/>
          </a:p>
        </p:txBody>
      </p:sp>
      <p:sp>
        <p:nvSpPr>
          <p:cNvPr id="7" name="TextBox 6">
            <a:extLst>
              <a:ext uri="{FF2B5EF4-FFF2-40B4-BE49-F238E27FC236}">
                <a16:creationId xmlns:a16="http://schemas.microsoft.com/office/drawing/2014/main" id="{BE2FB446-C853-DD99-3563-DE18BA9497A5}"/>
              </a:ext>
            </a:extLst>
          </p:cNvPr>
          <p:cNvSpPr txBox="1"/>
          <p:nvPr/>
        </p:nvSpPr>
        <p:spPr>
          <a:xfrm>
            <a:off x="111760" y="1133703"/>
            <a:ext cx="6746240" cy="4247317"/>
          </a:xfrm>
          <a:prstGeom prst="rect">
            <a:avLst/>
          </a:prstGeom>
          <a:noFill/>
        </p:spPr>
        <p:txBody>
          <a:bodyPr wrap="square">
            <a:spAutoFit/>
          </a:bodyPr>
          <a:lstStyle/>
          <a:p>
            <a:pPr>
              <a:buNone/>
            </a:pPr>
            <a:r>
              <a:rPr lang="en-US" sz="1800" b="1" dirty="0">
                <a:latin typeface="Times New Roman" panose="02020603050405020304" pitchFamily="18" charset="0"/>
                <a:cs typeface="Times New Roman" panose="02020603050405020304" pitchFamily="18" charset="0"/>
              </a:rPr>
              <a:t>Research Lab–Based Papers</a:t>
            </a:r>
          </a:p>
          <a:p>
            <a:pPr>
              <a:buNone/>
            </a:pPr>
            <a:endParaRPr lang="en-US" sz="18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Affective Computing for Mental Health</a:t>
            </a:r>
            <a:br>
              <a:rPr lang="en-US" sz="1800" dirty="0">
                <a:latin typeface="Times New Roman" panose="02020603050405020304" pitchFamily="18" charset="0"/>
                <a:cs typeface="Times New Roman" panose="02020603050405020304" pitchFamily="18" charset="0"/>
              </a:rPr>
            </a:br>
            <a:r>
              <a:rPr lang="en-US" sz="1800" i="1" dirty="0">
                <a:latin typeface="Times New Roman" panose="02020603050405020304" pitchFamily="18" charset="0"/>
                <a:cs typeface="Times New Roman" panose="02020603050405020304" pitchFamily="18" charset="0"/>
              </a:rPr>
              <a:t>MIT Media Lab – Affective Computing Group</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Focus: Emotion recognition, human–AI emotional interaction</a:t>
            </a:r>
          </a:p>
          <a:p>
            <a:pPr>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Digital Mental Health Interventions</a:t>
            </a:r>
            <a:br>
              <a:rPr lang="en-US" sz="1800" dirty="0">
                <a:latin typeface="Times New Roman" panose="02020603050405020304" pitchFamily="18" charset="0"/>
                <a:cs typeface="Times New Roman" panose="02020603050405020304" pitchFamily="18" charset="0"/>
              </a:rPr>
            </a:br>
            <a:r>
              <a:rPr lang="en-US" sz="1800" i="1" dirty="0">
                <a:latin typeface="Times New Roman" panose="02020603050405020304" pitchFamily="18" charset="0"/>
                <a:cs typeface="Times New Roman" panose="02020603050405020304" pitchFamily="18" charset="0"/>
              </a:rPr>
              <a:t>Stanford Center for Digital Health</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Focus: Technology-assisted mental health care</a:t>
            </a:r>
          </a:p>
          <a:p>
            <a:pPr>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AI and Mental Health</a:t>
            </a:r>
            <a:br>
              <a:rPr lang="en-US" sz="1800" dirty="0">
                <a:latin typeface="Times New Roman" panose="02020603050405020304" pitchFamily="18" charset="0"/>
                <a:cs typeface="Times New Roman" panose="02020603050405020304" pitchFamily="18" charset="0"/>
              </a:rPr>
            </a:br>
            <a:r>
              <a:rPr lang="en-US" sz="1800" i="1" dirty="0">
                <a:latin typeface="Times New Roman" panose="02020603050405020304" pitchFamily="18" charset="0"/>
                <a:cs typeface="Times New Roman" panose="02020603050405020304" pitchFamily="18" charset="0"/>
              </a:rPr>
              <a:t>UCLA Center for Mental Health &amp; Technology</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Focus: AI tools for psychological assessment and support</a:t>
            </a:r>
          </a:p>
          <a:p>
            <a:pPr>
              <a:buNone/>
            </a:pP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ED02F4E-B50A-CDB5-C03F-C586A3B84DCE}"/>
              </a:ext>
            </a:extLst>
          </p:cNvPr>
          <p:cNvSpPr txBox="1"/>
          <p:nvPr/>
        </p:nvSpPr>
        <p:spPr>
          <a:xfrm>
            <a:off x="5902960" y="856704"/>
            <a:ext cx="6746240" cy="4801314"/>
          </a:xfrm>
          <a:prstGeom prst="rect">
            <a:avLst/>
          </a:prstGeom>
          <a:noFill/>
        </p:spPr>
        <p:txBody>
          <a:bodyPr wrap="square">
            <a:spAutoFit/>
          </a:bodyPr>
          <a:lstStyle/>
          <a:p>
            <a:pPr>
              <a:buNone/>
            </a:pPr>
            <a:r>
              <a:rPr lang="en-US" sz="1800" b="1" dirty="0">
                <a:latin typeface="Times New Roman" panose="02020603050405020304" pitchFamily="18" charset="0"/>
                <a:cs typeface="Times New Roman" panose="02020603050405020304" pitchFamily="18" charset="0"/>
              </a:rPr>
              <a:t>Journal &amp; Conference Papers (IEEE / ACM / Others)</a:t>
            </a:r>
          </a:p>
          <a:p>
            <a:pPr>
              <a:buNone/>
            </a:pPr>
            <a:endParaRPr lang="en-US" sz="18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“Artificial Intelligence in Mental Health Care”</a:t>
            </a:r>
            <a:br>
              <a:rPr lang="en-US" sz="1800" dirty="0">
                <a:latin typeface="Times New Roman" panose="02020603050405020304" pitchFamily="18" charset="0"/>
                <a:cs typeface="Times New Roman" panose="02020603050405020304" pitchFamily="18" charset="0"/>
              </a:rPr>
            </a:br>
            <a:r>
              <a:rPr lang="en-US" sz="1800" i="1" dirty="0">
                <a:latin typeface="Times New Roman" panose="02020603050405020304" pitchFamily="18" charset="0"/>
                <a:cs typeface="Times New Roman" panose="02020603050405020304" pitchFamily="18" charset="0"/>
              </a:rPr>
              <a:t>IEEE Computer Society</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Focus: Role of AI, NLP, and ML in mental health systems</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“The Use of Chatbots in Mental Health”</a:t>
            </a:r>
            <a:br>
              <a:rPr lang="en-US" sz="1800" dirty="0">
                <a:latin typeface="Times New Roman" panose="02020603050405020304" pitchFamily="18" charset="0"/>
                <a:cs typeface="Times New Roman" panose="02020603050405020304" pitchFamily="18" charset="0"/>
              </a:rPr>
            </a:br>
            <a:r>
              <a:rPr lang="en-US" sz="1800" i="1" dirty="0">
                <a:latin typeface="Times New Roman" panose="02020603050405020304" pitchFamily="18" charset="0"/>
                <a:cs typeface="Times New Roman" panose="02020603050405020304" pitchFamily="18" charset="0"/>
              </a:rPr>
              <a:t>ACM Digital Health / CHI Proceedings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Focus: Conversational agents for emotional support</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“Digital Phenotyping and Mental Health”</a:t>
            </a:r>
            <a:br>
              <a:rPr lang="en-US" sz="1800" dirty="0">
                <a:latin typeface="Times New Roman" panose="02020603050405020304" pitchFamily="18" charset="0"/>
                <a:cs typeface="Times New Roman" panose="02020603050405020304" pitchFamily="18" charset="0"/>
              </a:rPr>
            </a:br>
            <a:r>
              <a:rPr lang="en-US" sz="1800" i="1" dirty="0">
                <a:latin typeface="Times New Roman" panose="02020603050405020304" pitchFamily="18" charset="0"/>
                <a:cs typeface="Times New Roman" panose="02020603050405020304" pitchFamily="18" charset="0"/>
              </a:rPr>
              <a:t>Nature Digital Medicine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Focus: Behavioral data analysis for mental health monitoring</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“Effectiveness of Mobile Mental Health Applications”</a:t>
            </a:r>
            <a:br>
              <a:rPr lang="en-US" sz="1800" dirty="0">
                <a:latin typeface="Times New Roman" panose="02020603050405020304" pitchFamily="18" charset="0"/>
                <a:cs typeface="Times New Roman" panose="02020603050405020304" pitchFamily="18" charset="0"/>
              </a:rPr>
            </a:br>
            <a:r>
              <a:rPr lang="en-US" sz="1800" i="1" dirty="0">
                <a:latin typeface="Times New Roman" panose="02020603050405020304" pitchFamily="18" charset="0"/>
                <a:cs typeface="Times New Roman" panose="02020603050405020304" pitchFamily="18" charset="0"/>
              </a:rPr>
              <a:t>Journal of Medical Internet Research (JMIR)</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Focus: Evaluation of digital mental health platforms</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“Ethical Considerations in AI-Based Mental Health Systems”</a:t>
            </a:r>
            <a:br>
              <a:rPr lang="en-US" sz="1800" dirty="0">
                <a:latin typeface="Times New Roman" panose="02020603050405020304" pitchFamily="18" charset="0"/>
                <a:cs typeface="Times New Roman" panose="02020603050405020304" pitchFamily="18" charset="0"/>
              </a:rPr>
            </a:br>
            <a:r>
              <a:rPr lang="en-US" sz="1800" i="1" dirty="0">
                <a:latin typeface="Times New Roman" panose="02020603050405020304" pitchFamily="18" charset="0"/>
                <a:cs typeface="Times New Roman" panose="02020603050405020304" pitchFamily="18" charset="0"/>
              </a:rPr>
              <a:t>IEEE Access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Focus: Privacy, consent, and responsible AI</a:t>
            </a:r>
          </a:p>
        </p:txBody>
      </p:sp>
    </p:spTree>
    <p:extLst>
      <p:ext uri="{BB962C8B-B14F-4D97-AF65-F5344CB8AC3E}">
        <p14:creationId xmlns:p14="http://schemas.microsoft.com/office/powerpoint/2010/main" val="42175936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A7668-7236-78DE-09AA-D01DD3822257}"/>
            </a:ext>
          </a:extLst>
        </p:cNvPr>
        <p:cNvGrpSpPr/>
        <p:nvPr/>
      </p:nvGrpSpPr>
      <p:grpSpPr>
        <a:xfrm>
          <a:off x="0" y="0"/>
          <a:ext cx="0" cy="0"/>
          <a:chOff x="0" y="0"/>
          <a:chExt cx="0" cy="0"/>
        </a:xfrm>
      </p:grpSpPr>
      <p:sp>
        <p:nvSpPr>
          <p:cNvPr id="4" name="Google Shape;1035;p46">
            <a:extLst>
              <a:ext uri="{FF2B5EF4-FFF2-40B4-BE49-F238E27FC236}">
                <a16:creationId xmlns:a16="http://schemas.microsoft.com/office/drawing/2014/main" id="{725600F0-7249-F0C4-36B4-6117EA3A87F2}"/>
              </a:ext>
            </a:extLst>
          </p:cNvPr>
          <p:cNvSpPr txBox="1">
            <a:spLocks/>
          </p:cNvSpPr>
          <p:nvPr/>
        </p:nvSpPr>
        <p:spPr>
          <a:xfrm>
            <a:off x="111760" y="0"/>
            <a:ext cx="13268960" cy="104542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C00000"/>
              </a:buClr>
              <a:buSzPts val="3600"/>
              <a:buFont typeface="Times New Roman"/>
              <a:buNone/>
            </a:pPr>
            <a:r>
              <a:rPr lang="en-IN" b="1" i="1" dirty="0">
                <a:solidFill>
                  <a:srgbClr val="C00000"/>
                </a:solidFill>
                <a:latin typeface="Times New Roman"/>
                <a:cs typeface="Times New Roman"/>
                <a:sym typeface="Times New Roman"/>
              </a:rPr>
              <a:t>Cost of the Product (approx.)</a:t>
            </a:r>
            <a:endParaRPr lang="en-IN" sz="5400" dirty="0"/>
          </a:p>
        </p:txBody>
      </p:sp>
      <p:sp>
        <p:nvSpPr>
          <p:cNvPr id="3" name="TextBox 2">
            <a:extLst>
              <a:ext uri="{FF2B5EF4-FFF2-40B4-BE49-F238E27FC236}">
                <a16:creationId xmlns:a16="http://schemas.microsoft.com/office/drawing/2014/main" id="{8834A5D5-6999-2F56-5AB7-89EB86EAA55B}"/>
              </a:ext>
            </a:extLst>
          </p:cNvPr>
          <p:cNvSpPr txBox="1"/>
          <p:nvPr/>
        </p:nvSpPr>
        <p:spPr>
          <a:xfrm>
            <a:off x="688340" y="889843"/>
            <a:ext cx="9298940" cy="5078313"/>
          </a:xfrm>
          <a:prstGeom prst="rect">
            <a:avLst/>
          </a:prstGeom>
          <a:noFill/>
        </p:spPr>
        <p:txBody>
          <a:bodyPr wrap="square">
            <a:spAutoFit/>
          </a:bodyPr>
          <a:lstStyle/>
          <a:p>
            <a:pPr>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Feature Development:</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Moderate (Frontend, Backend, AI, Reports)</a:t>
            </a:r>
          </a:p>
          <a:p>
            <a:pPr>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Database (MongoDB Atlas):</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₹0 (development) → ₹1,500–₹3,000 / month</a:t>
            </a:r>
          </a:p>
          <a:p>
            <a:pPr>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Cloud &amp; Processing (AWS):</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₹2,000–₹5,000 / month (CPU-based AI)</a:t>
            </a:r>
          </a:p>
          <a:p>
            <a:endParaRPr lang="en-IN"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Storage &amp; Visualization:</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₹500–₹1,000 / month (Cloud storage, dashboards)</a:t>
            </a:r>
          </a:p>
          <a:p>
            <a:pPr>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Hardware &amp; Devices:</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No additional cost (cloud-based, user-owned devices)</a:t>
            </a:r>
          </a:p>
          <a:p>
            <a:pPr>
              <a:buNone/>
            </a:pP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pPr algn="ctr">
              <a:buNone/>
            </a:pPr>
            <a:r>
              <a:rPr lang="en-IN" sz="1800" b="1" dirty="0">
                <a:latin typeface="Times New Roman" panose="02020603050405020304" pitchFamily="18" charset="0"/>
                <a:cs typeface="Times New Roman" panose="02020603050405020304" pitchFamily="18" charset="0"/>
              </a:rPr>
              <a:t>Total Estimated Monthly Cost:</a:t>
            </a:r>
          </a:p>
          <a:p>
            <a:pPr algn="ctr">
              <a:buNone/>
            </a:pPr>
            <a:r>
              <a:rPr lang="en-IN" sz="1800" b="1" dirty="0">
                <a:latin typeface="Times New Roman" panose="02020603050405020304" pitchFamily="18" charset="0"/>
                <a:cs typeface="Times New Roman" panose="02020603050405020304" pitchFamily="18" charset="0"/>
              </a:rPr>
              <a:t>₹4,000 – ₹10,000 (academic / early-stage deployment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09624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FD8A7-D331-11E0-61BA-91A6DB0A0DFF}"/>
            </a:ext>
          </a:extLst>
        </p:cNvPr>
        <p:cNvGrpSpPr/>
        <p:nvPr/>
      </p:nvGrpSpPr>
      <p:grpSpPr>
        <a:xfrm>
          <a:off x="0" y="0"/>
          <a:ext cx="0" cy="0"/>
          <a:chOff x="0" y="0"/>
          <a:chExt cx="0" cy="0"/>
        </a:xfrm>
      </p:grpSpPr>
      <p:sp>
        <p:nvSpPr>
          <p:cNvPr id="4" name="Google Shape;1035;p46">
            <a:extLst>
              <a:ext uri="{FF2B5EF4-FFF2-40B4-BE49-F238E27FC236}">
                <a16:creationId xmlns:a16="http://schemas.microsoft.com/office/drawing/2014/main" id="{C9C7EF4B-EF45-F4F8-5F78-8A4C71D5282C}"/>
              </a:ext>
            </a:extLst>
          </p:cNvPr>
          <p:cNvSpPr txBox="1">
            <a:spLocks/>
          </p:cNvSpPr>
          <p:nvPr/>
        </p:nvSpPr>
        <p:spPr>
          <a:xfrm>
            <a:off x="121920" y="0"/>
            <a:ext cx="13268960" cy="104542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C00000"/>
              </a:buClr>
              <a:buSzPts val="3600"/>
              <a:buFont typeface="Times New Roman"/>
              <a:buNone/>
            </a:pPr>
            <a:r>
              <a:rPr lang="en-IN" b="1" i="1" dirty="0">
                <a:solidFill>
                  <a:srgbClr val="C00000"/>
                </a:solidFill>
                <a:latin typeface="Times New Roman"/>
                <a:cs typeface="Times New Roman"/>
                <a:sym typeface="Times New Roman"/>
              </a:rPr>
              <a:t>My product is unique because..</a:t>
            </a:r>
            <a:endParaRPr lang="en-IN" sz="5400" dirty="0"/>
          </a:p>
        </p:txBody>
      </p:sp>
      <p:sp>
        <p:nvSpPr>
          <p:cNvPr id="3" name="Rectangle 2">
            <a:extLst>
              <a:ext uri="{FF2B5EF4-FFF2-40B4-BE49-F238E27FC236}">
                <a16:creationId xmlns:a16="http://schemas.microsoft.com/office/drawing/2014/main" id="{BA0EEB1B-EE51-486E-D518-FDE15D897937}"/>
              </a:ext>
            </a:extLst>
          </p:cNvPr>
          <p:cNvSpPr>
            <a:spLocks noChangeArrowheads="1"/>
          </p:cNvSpPr>
          <p:nvPr/>
        </p:nvSpPr>
        <p:spPr bwMode="auto">
          <a:xfrm>
            <a:off x="152400" y="732661"/>
            <a:ext cx="1161288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Anonymity-first design: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can express emotions freely without mandatory identity disclosure, which directly addresses stigma and fear in mental health support.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Hybrid care model: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Combines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self-help (journaling &amp; chatbot support)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optional professional care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allowing users to seek help at their own pace.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Emotion-aware AI:</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 and NLP</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analyze journal entries and track emotional trends rather than offering generic responses.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Empathetic LLM chatbot: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Designed to be emotionally supportive and human-like, avoiding over-medicalization of user concerns.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Consent-based doctor dashboard: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Doctors access only approved, anonymized data, enabling ethical and transparent collaboration.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 and post-therapy reflection: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Structured journaling before and after therapy improves emotional insight and therapy effectiveness.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Safety-focused architecture: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Built-in risk detection and alert mechanisms ensure responsible handling of critical emotional states.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Scalable and inclusive: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Cloud-based, low-cost architecture suitable for diverse communities, academic research, and industry adoption.</a:t>
            </a:r>
          </a:p>
        </p:txBody>
      </p:sp>
    </p:spTree>
    <p:extLst>
      <p:ext uri="{BB962C8B-B14F-4D97-AF65-F5344CB8AC3E}">
        <p14:creationId xmlns:p14="http://schemas.microsoft.com/office/powerpoint/2010/main" val="3973030622"/>
      </p:ext>
    </p:extLst>
  </p:cSld>
  <p:clrMapOvr>
    <a:masterClrMapping/>
  </p:clrMapOvr>
</p:sld>
</file>

<file path=ppt/theme/theme1.xml><?xml version="1.0" encoding="utf-8"?>
<a:theme xmlns:a="http://schemas.openxmlformats.org/drawingml/2006/main" name="2_Presentation slide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resentation Cover pag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Presentation Cover pag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Presentation slide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263</TotalTime>
  <Words>3992</Words>
  <Application>Microsoft Office PowerPoint</Application>
  <PresentationFormat>Widescreen</PresentationFormat>
  <Paragraphs>479</Paragraphs>
  <Slides>31</Slides>
  <Notes>1</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31</vt:i4>
      </vt:variant>
    </vt:vector>
  </HeadingPairs>
  <TitlesOfParts>
    <vt:vector size="42" baseType="lpstr">
      <vt:lpstr>Arial</vt:lpstr>
      <vt:lpstr>Avenir</vt:lpstr>
      <vt:lpstr>Calibri</vt:lpstr>
      <vt:lpstr>Garamond</vt:lpstr>
      <vt:lpstr>Poppins</vt:lpstr>
      <vt:lpstr>Times New Roman</vt:lpstr>
      <vt:lpstr>Wingdings</vt:lpstr>
      <vt:lpstr>2_Presentation slides</vt:lpstr>
      <vt:lpstr>Presentation Cover page</vt:lpstr>
      <vt:lpstr>1_Presentation Cover page</vt:lpstr>
      <vt:lpstr>1_Presentation slides</vt:lpstr>
      <vt:lpstr>23CSE461   Healing Bridges:  Digital Mental Health Access for Women &amp; Youth  GitHub URL: sanhithaac/Healing-Bridges-Digital-Mental-Health-Access-for-Women-and-Youth · GitHub</vt:lpstr>
      <vt:lpstr>PowerPoint Presentation</vt:lpstr>
      <vt:lpstr>Collaborator Details </vt:lpstr>
      <vt:lpstr>Abstract</vt:lpstr>
      <vt:lpstr>Introduction</vt:lpstr>
      <vt:lpstr>What is AI Role in this product ?</vt:lpstr>
      <vt:lpstr>Algorithms used and their purpose</vt:lpstr>
      <vt:lpstr>Data Building</vt:lpstr>
      <vt:lpstr>Hackathon Pitching on this product</vt:lpstr>
      <vt:lpstr>Companies working on similar problem</vt:lpstr>
      <vt:lpstr>Research labs working on similar problem </vt:lpstr>
      <vt:lpstr>Media specific inputs on this product </vt:lpstr>
      <vt:lpstr>1.Project Overview</vt:lpstr>
      <vt:lpstr>Hackathon Ref &amp; Inspiration </vt:lpstr>
      <vt:lpstr>Types of Questions &amp; Queries</vt:lpstr>
      <vt:lpstr> Requirements  Functional         Non Functional </vt:lpstr>
      <vt:lpstr>What type of study does the product require?</vt:lpstr>
      <vt:lpstr>2.1 Technology Stack - MERN </vt:lpstr>
      <vt:lpstr>3.System Architecture</vt:lpstr>
      <vt:lpstr>Comparison with similar products</vt:lpstr>
      <vt:lpstr>PowerPoint Presentation</vt:lpstr>
      <vt:lpstr>Step by Step Workflow</vt:lpstr>
      <vt:lpstr>PowerPoint Presentation</vt:lpstr>
      <vt:lpstr>PowerPoint Presentation</vt:lpstr>
      <vt:lpstr>PowerPoint Presentation</vt:lpstr>
      <vt:lpstr>  Changes for mobile stack compatibility </vt:lpstr>
      <vt:lpstr>  DevOps Solutions </vt:lpstr>
      <vt:lpstr> Integration to Cloud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Senthil</dc:creator>
  <cp:lastModifiedBy>SHAIK ABDUS SATTAR</cp:lastModifiedBy>
  <cp:revision>6</cp:revision>
  <dcterms:modified xsi:type="dcterms:W3CDTF">2025-12-16T04:36:59Z</dcterms:modified>
</cp:coreProperties>
</file>